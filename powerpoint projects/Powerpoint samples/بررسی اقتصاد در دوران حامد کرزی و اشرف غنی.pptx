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416" r:id="rId5"/>
    <p:sldId id="342" r:id="rId6"/>
    <p:sldId id="399" r:id="rId7"/>
    <p:sldId id="402" r:id="rId8"/>
    <p:sldId id="401" r:id="rId9"/>
    <p:sldId id="400" r:id="rId10"/>
    <p:sldId id="403" r:id="rId11"/>
    <p:sldId id="404" r:id="rId12"/>
    <p:sldId id="412" r:id="rId13"/>
    <p:sldId id="413" r:id="rId14"/>
    <p:sldId id="414" r:id="rId15"/>
    <p:sldId id="405" r:id="rId16"/>
    <p:sldId id="415" r:id="rId17"/>
    <p:sldId id="406" r:id="rId18"/>
    <p:sldId id="407" r:id="rId19"/>
    <p:sldId id="408" r:id="rId20"/>
    <p:sldId id="41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03C9"/>
    <a:srgbClr val="530290"/>
    <a:srgbClr val="8504E6"/>
    <a:srgbClr val="580298"/>
    <a:srgbClr val="6792FD"/>
    <a:srgbClr val="A530FC"/>
    <a:srgbClr val="66FF99"/>
    <a:srgbClr val="FF111E"/>
    <a:srgbClr val="1956ED"/>
    <a:srgbClr val="010F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 snapToObjects="1" showGuides="1">
      <p:cViewPr varScale="1">
        <p:scale>
          <a:sx n="79" d="100"/>
          <a:sy n="79" d="100"/>
        </p:scale>
        <p:origin x="85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052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780FA-6FE2-1AB5-BD5C-8B364F25E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42397-EAF6-1CDE-EE01-43E068600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490FB-6377-1924-72DF-DDD786681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878D6-1BAC-972E-65EF-E3287674D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715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9005-DF9F-F8A0-F059-66F62A31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CC0F6-32FD-7EAF-EEBD-A14C799C5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E4767-2211-F2EE-7A10-F3217170E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8597D-2291-F241-78B1-4456C88A8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438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684AA-4BFE-91EC-2296-BA8D0179B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40300-2E12-692C-FA37-C2BDB2E9E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06C12-B8F5-3F74-FA1C-F840997F0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EBA35-7F73-2937-576A-7CC03577C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264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A739F-081D-1052-52DB-FE50A0F7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A49EE-D526-169B-6496-A34169C9B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A6605-4DDA-715C-F62A-055F0A4F0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3DEB-5103-1182-3FBA-E7E946FCC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417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31C5F-795B-E733-06E4-CAA9D4EB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6634B-2F09-0BF9-1310-3361343E0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E8E40-34BC-AE25-D03B-A5D9462BF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8562F-0BE4-CC4D-5FB4-2984D2E65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40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webp"/><Relationship Id="rId4" Type="http://schemas.openxmlformats.org/officeDocument/2006/relationships/image" Target="../media/image15.web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0115F9-B67F-F3B1-F884-DAC354AAA5A9}"/>
              </a:ext>
            </a:extLst>
          </p:cNvPr>
          <p:cNvSpPr/>
          <p:nvPr/>
        </p:nvSpPr>
        <p:spPr>
          <a:xfrm>
            <a:off x="0" y="-150471"/>
            <a:ext cx="12192000" cy="566735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889669-2BD3-0DA3-82BC-FD1BA8FAFAD8}"/>
              </a:ext>
            </a:extLst>
          </p:cNvPr>
          <p:cNvSpPr/>
          <p:nvPr/>
        </p:nvSpPr>
        <p:spPr>
          <a:xfrm>
            <a:off x="0" y="4815192"/>
            <a:ext cx="12192000" cy="30689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F4475D-BDDF-D267-94C4-BFA643B06185}"/>
              </a:ext>
            </a:extLst>
          </p:cNvPr>
          <p:cNvSpPr txBox="1"/>
          <p:nvPr/>
        </p:nvSpPr>
        <p:spPr>
          <a:xfrm>
            <a:off x="1952199" y="2841328"/>
            <a:ext cx="87274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8800" b="1" dirty="0">
                <a:solidFill>
                  <a:schemeClr val="bg1"/>
                </a:solidFill>
                <a:latin typeface="Webdings" panose="05030102010509060703" pitchFamily="18" charset="2"/>
              </a:rPr>
              <a:t>بسم الله الرحمن الرحیم</a:t>
            </a:r>
            <a:endParaRPr lang="en-US" sz="8800" b="1" dirty="0">
              <a:solidFill>
                <a:schemeClr val="bg1"/>
              </a:solidFill>
              <a:latin typeface="Webdings" panose="05030102010509060703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4799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2B42CA-7128-BEC7-44C0-23F2D25120C8}"/>
              </a:ext>
            </a:extLst>
          </p:cNvPr>
          <p:cNvSpPr/>
          <p:nvPr/>
        </p:nvSpPr>
        <p:spPr>
          <a:xfrm>
            <a:off x="1732280" y="1148864"/>
            <a:ext cx="8727440" cy="28854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9933FF">
                  <a:lumMod val="57000"/>
                </a:srgbClr>
              </a:gs>
              <a:gs pos="100000">
                <a:srgbClr val="9933FF">
                  <a:alpha val="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064CB8-7383-AC90-87A3-3D4A9DE9A644}"/>
              </a:ext>
            </a:extLst>
          </p:cNvPr>
          <p:cNvSpPr txBox="1"/>
          <p:nvPr/>
        </p:nvSpPr>
        <p:spPr>
          <a:xfrm>
            <a:off x="2174240" y="1622088"/>
            <a:ext cx="78435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6000" b="1" dirty="0">
                <a:solidFill>
                  <a:schemeClr val="bg1"/>
                </a:solidFill>
              </a:rPr>
              <a:t>خوش آمدید به سمینار امروز </a:t>
            </a:r>
            <a:r>
              <a:rPr lang="fa-IR" sz="6000" dirty="0">
                <a:solidFill>
                  <a:schemeClr val="bg1"/>
                </a:solidFill>
              </a:rPr>
              <a:t>تحت عنوان: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47AE22-BA29-1B68-ADB6-2EC366EFF8AF}"/>
              </a:ext>
            </a:extLst>
          </p:cNvPr>
          <p:cNvSpPr/>
          <p:nvPr/>
        </p:nvSpPr>
        <p:spPr>
          <a:xfrm>
            <a:off x="2570480" y="4268182"/>
            <a:ext cx="7650480" cy="8839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9933FF">
                  <a:lumMod val="57000"/>
                </a:srgbClr>
              </a:gs>
              <a:gs pos="100000">
                <a:srgbClr val="9933FF">
                  <a:alpha val="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F2622-69AA-F95C-D75B-C93E4C5D5BC4}"/>
              </a:ext>
            </a:extLst>
          </p:cNvPr>
          <p:cNvSpPr txBox="1"/>
          <p:nvPr/>
        </p:nvSpPr>
        <p:spPr>
          <a:xfrm>
            <a:off x="2473960" y="4468852"/>
            <a:ext cx="784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2800" dirty="0">
                <a:solidFill>
                  <a:schemeClr val="bg1"/>
                </a:solidFill>
              </a:rPr>
              <a:t>بررسی اقتصادی افغانستان در عهد حامد کرزی و اشرف غنی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CEAE71-7EF5-9CDE-E051-E6B50BFA2866}"/>
              </a:ext>
            </a:extLst>
          </p:cNvPr>
          <p:cNvSpPr/>
          <p:nvPr/>
        </p:nvSpPr>
        <p:spPr>
          <a:xfrm>
            <a:off x="6096000" y="5426620"/>
            <a:ext cx="4119880" cy="60805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9933FF">
                  <a:lumMod val="57000"/>
                </a:srgbClr>
              </a:gs>
              <a:gs pos="100000">
                <a:srgbClr val="9933FF">
                  <a:alpha val="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400" dirty="0">
                <a:solidFill>
                  <a:schemeClr val="bg1"/>
                </a:solidFill>
              </a:rPr>
              <a:t>تهیه کننده : علی سجاد رضایی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81000">
              <a:schemeClr val="accent6"/>
            </a:gs>
            <a:gs pos="30000">
              <a:srgbClr val="02090E">
                <a:lumMod val="72000"/>
                <a:lumOff val="28000"/>
              </a:srgbClr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3901" y="6226198"/>
            <a:ext cx="290269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9FBE55D-37CE-C0A0-CA7B-3A16484852AA}"/>
              </a:ext>
            </a:extLst>
          </p:cNvPr>
          <p:cNvCxnSpPr>
            <a:cxnSpLocks/>
          </p:cNvCxnSpPr>
          <p:nvPr/>
        </p:nvCxnSpPr>
        <p:spPr>
          <a:xfrm>
            <a:off x="2745581" y="1984075"/>
            <a:ext cx="6772275" cy="0"/>
          </a:xfrm>
          <a:prstGeom prst="line">
            <a:avLst/>
          </a:prstGeom>
          <a:ln w="28575">
            <a:solidFill>
              <a:srgbClr val="0E152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79E530-A23A-9881-ACDC-918D1F424281}"/>
              </a:ext>
            </a:extLst>
          </p:cNvPr>
          <p:cNvCxnSpPr>
            <a:cxnSpLocks/>
          </p:cNvCxnSpPr>
          <p:nvPr/>
        </p:nvCxnSpPr>
        <p:spPr>
          <a:xfrm>
            <a:off x="9517856" y="1984075"/>
            <a:ext cx="1752600" cy="0"/>
          </a:xfrm>
          <a:prstGeom prst="line">
            <a:avLst/>
          </a:prstGeom>
          <a:ln w="28575">
            <a:solidFill>
              <a:srgbClr val="010E2E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B602F9-EDF6-9678-E3AE-A89AF0A276B5}"/>
              </a:ext>
            </a:extLst>
          </p:cNvPr>
          <p:cNvCxnSpPr>
            <a:cxnSpLocks/>
          </p:cNvCxnSpPr>
          <p:nvPr/>
        </p:nvCxnSpPr>
        <p:spPr>
          <a:xfrm>
            <a:off x="793675" y="1984075"/>
            <a:ext cx="1951906" cy="0"/>
          </a:xfrm>
          <a:prstGeom prst="line">
            <a:avLst/>
          </a:prstGeom>
          <a:ln w="28575">
            <a:solidFill>
              <a:srgbClr val="1E0B3E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Double Brace 16">
            <a:extLst>
              <a:ext uri="{FF2B5EF4-FFF2-40B4-BE49-F238E27FC236}">
                <a16:creationId xmlns:a16="http://schemas.microsoft.com/office/drawing/2014/main" id="{A7F9B374-64F0-9114-2D53-EC5EF65675A2}"/>
              </a:ext>
            </a:extLst>
          </p:cNvPr>
          <p:cNvSpPr/>
          <p:nvPr/>
        </p:nvSpPr>
        <p:spPr>
          <a:xfrm>
            <a:off x="8350366" y="1915069"/>
            <a:ext cx="940280" cy="2734564"/>
          </a:xfrm>
          <a:prstGeom prst="bracePair">
            <a:avLst>
              <a:gd name="adj" fmla="val 18425"/>
            </a:avLst>
          </a:prstGeom>
          <a:ln w="38100">
            <a:solidFill>
              <a:srgbClr val="3A9F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9CCD2A-ECED-D4A0-A04F-363588725B45}"/>
              </a:ext>
            </a:extLst>
          </p:cNvPr>
          <p:cNvSpPr/>
          <p:nvPr/>
        </p:nvSpPr>
        <p:spPr>
          <a:xfrm>
            <a:off x="8893834" y="1682151"/>
            <a:ext cx="2250528" cy="3191771"/>
          </a:xfrm>
          <a:prstGeom prst="roundRect">
            <a:avLst>
              <a:gd name="adj" fmla="val 1775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300"/>
              </a:lnSpc>
            </a:pPr>
            <a:r>
              <a:rPr lang="fa-IR" sz="3200" dirty="0">
                <a:solidFill>
                  <a:schemeClr val="bg1"/>
                </a:solidFill>
              </a:rPr>
              <a:t>بررسی اقتصاد افغانستان در زمان حامد کرزی و اشرف غنی</a:t>
            </a:r>
            <a:endParaRPr lang="en-US" sz="3200" dirty="0">
              <a:solidFill>
                <a:schemeClr val="bg1"/>
              </a:solidFill>
            </a:endParaRPr>
          </a:p>
        </p:txBody>
      </p:sp>
      <p:sp useBgFill="1"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5F5B52-225F-6319-530D-E111A0E23F6E}"/>
              </a:ext>
            </a:extLst>
          </p:cNvPr>
          <p:cNvSpPr/>
          <p:nvPr/>
        </p:nvSpPr>
        <p:spPr>
          <a:xfrm>
            <a:off x="4055153" y="2182473"/>
            <a:ext cx="3646577" cy="948903"/>
          </a:xfrm>
          <a:prstGeom prst="roundRect">
            <a:avLst>
              <a:gd name="adj" fmla="val 1775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300"/>
              </a:lnSpc>
            </a:pPr>
            <a:r>
              <a:rPr lang="fa-IR" sz="3200" dirty="0">
                <a:solidFill>
                  <a:schemeClr val="bg1"/>
                </a:solidFill>
              </a:rPr>
              <a:t>در زمان حامد کرزی</a:t>
            </a:r>
            <a:endParaRPr lang="en-US" sz="3200" dirty="0">
              <a:solidFill>
                <a:schemeClr val="bg1"/>
              </a:solidFill>
            </a:endParaRPr>
          </a:p>
        </p:txBody>
      </p:sp>
      <p:sp useBgFill="1"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9F30A2F-EF23-9FAE-2DAC-C25629A83E11}"/>
              </a:ext>
            </a:extLst>
          </p:cNvPr>
          <p:cNvSpPr/>
          <p:nvPr/>
        </p:nvSpPr>
        <p:spPr>
          <a:xfrm>
            <a:off x="4063781" y="3301037"/>
            <a:ext cx="3646577" cy="948903"/>
          </a:xfrm>
          <a:prstGeom prst="roundRect">
            <a:avLst>
              <a:gd name="adj" fmla="val 1775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300"/>
              </a:lnSpc>
            </a:pPr>
            <a:r>
              <a:rPr lang="fa-IR" sz="3200" dirty="0">
                <a:solidFill>
                  <a:schemeClr val="bg1"/>
                </a:solidFill>
              </a:rPr>
              <a:t>در زمان اشرف غنی</a:t>
            </a:r>
            <a:endParaRPr lang="en-US" sz="3200" dirty="0">
              <a:solidFill>
                <a:schemeClr val="bg1"/>
              </a:solidFill>
            </a:endParaRPr>
          </a:p>
        </p:txBody>
      </p:sp>
      <p:sp useBgFill="1"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A2109D-BE3B-CF14-E339-110B9FABBD2F}"/>
              </a:ext>
            </a:extLst>
          </p:cNvPr>
          <p:cNvSpPr/>
          <p:nvPr/>
        </p:nvSpPr>
        <p:spPr>
          <a:xfrm>
            <a:off x="1595886" y="2182473"/>
            <a:ext cx="2271627" cy="948903"/>
          </a:xfrm>
          <a:prstGeom prst="roundRect">
            <a:avLst>
              <a:gd name="adj" fmla="val 1775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300"/>
              </a:lnSpc>
            </a:pPr>
            <a:r>
              <a:rPr lang="en-US" sz="3200" dirty="0">
                <a:solidFill>
                  <a:schemeClr val="bg1"/>
                </a:solidFill>
              </a:rPr>
              <a:t>2001 - 2014</a:t>
            </a:r>
          </a:p>
        </p:txBody>
      </p:sp>
      <p:sp useBgFill="1"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C55557-9407-7CB1-0317-10D7D26CC1A5}"/>
              </a:ext>
            </a:extLst>
          </p:cNvPr>
          <p:cNvSpPr/>
          <p:nvPr/>
        </p:nvSpPr>
        <p:spPr>
          <a:xfrm>
            <a:off x="1593015" y="3318287"/>
            <a:ext cx="2271627" cy="948903"/>
          </a:xfrm>
          <a:prstGeom prst="roundRect">
            <a:avLst>
              <a:gd name="adj" fmla="val 1775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300"/>
              </a:lnSpc>
            </a:pPr>
            <a:r>
              <a:rPr lang="en-US" sz="3200" dirty="0">
                <a:solidFill>
                  <a:schemeClr val="bg1"/>
                </a:solidFill>
              </a:rPr>
              <a:t>2014 - 2021</a:t>
            </a:r>
          </a:p>
        </p:txBody>
      </p:sp>
    </p:spTree>
    <p:extLst>
      <p:ext uri="{BB962C8B-B14F-4D97-AF65-F5344CB8AC3E}">
        <p14:creationId xmlns:p14="http://schemas.microsoft.com/office/powerpoint/2010/main" val="360380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0F354-1DC3-5453-B139-AFFB0FBA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31A6011-C69A-6BBB-98C9-847FB68330DB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7E7FD3A-D075-92EE-7DD7-8F4AA9F52E6C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85CC61C-15E0-E5E0-7FE3-143233D01841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DEAC09B-4274-1576-122B-6AD9280ED9C1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C061A9F-F04A-BE22-9084-90BB3F884A5B}"/>
              </a:ext>
            </a:extLst>
          </p:cNvPr>
          <p:cNvSpPr/>
          <p:nvPr/>
        </p:nvSpPr>
        <p:spPr>
          <a:xfrm>
            <a:off x="307829" y="342899"/>
            <a:ext cx="11584968" cy="6248424"/>
          </a:xfrm>
          <a:custGeom>
            <a:avLst/>
            <a:gdLst>
              <a:gd name="connsiteX0" fmla="*/ 0 w 11576342"/>
              <a:gd name="connsiteY0" fmla="*/ 0 h 6248424"/>
              <a:gd name="connsiteX1" fmla="*/ 11576342 w 11576342"/>
              <a:gd name="connsiteY1" fmla="*/ 0 h 6248424"/>
              <a:gd name="connsiteX2" fmla="*/ 11576342 w 11576342"/>
              <a:gd name="connsiteY2" fmla="*/ 6248424 h 6248424"/>
              <a:gd name="connsiteX3" fmla="*/ 0 w 11576342"/>
              <a:gd name="connsiteY3" fmla="*/ 6248424 h 6248424"/>
              <a:gd name="connsiteX4" fmla="*/ 0 w 11576342"/>
              <a:gd name="connsiteY4" fmla="*/ 0 h 6248424"/>
              <a:gd name="connsiteX0" fmla="*/ 0 w 11584968"/>
              <a:gd name="connsiteY0" fmla="*/ 0 h 6248424"/>
              <a:gd name="connsiteX1" fmla="*/ 11584968 w 11584968"/>
              <a:gd name="connsiteY1" fmla="*/ 8627 h 6248424"/>
              <a:gd name="connsiteX2" fmla="*/ 11576342 w 11584968"/>
              <a:gd name="connsiteY2" fmla="*/ 6248424 h 6248424"/>
              <a:gd name="connsiteX3" fmla="*/ 0 w 11584968"/>
              <a:gd name="connsiteY3" fmla="*/ 6248424 h 6248424"/>
              <a:gd name="connsiteX4" fmla="*/ 0 w 11584968"/>
              <a:gd name="connsiteY4" fmla="*/ 0 h 624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84968" h="6248424">
                <a:moveTo>
                  <a:pt x="0" y="0"/>
                </a:moveTo>
                <a:lnTo>
                  <a:pt x="11584968" y="8627"/>
                </a:lnTo>
                <a:cubicBezTo>
                  <a:pt x="11582093" y="2088559"/>
                  <a:pt x="11579217" y="4168492"/>
                  <a:pt x="11576342" y="6248424"/>
                </a:cubicBezTo>
                <a:lnTo>
                  <a:pt x="0" y="624842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D7C6BE-0B81-D6CB-2947-B50EF3B3F201}"/>
              </a:ext>
            </a:extLst>
          </p:cNvPr>
          <p:cNvSpPr/>
          <p:nvPr/>
        </p:nvSpPr>
        <p:spPr>
          <a:xfrm>
            <a:off x="8509699" y="628988"/>
            <a:ext cx="3095704" cy="88898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403C9"/>
              </a:gs>
              <a:gs pos="100000">
                <a:srgbClr val="3A71FC"/>
              </a:gs>
            </a:gsLst>
            <a:lin ang="0" scaled="0"/>
            <a:tileRect/>
          </a:grad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4000" dirty="0">
                <a:solidFill>
                  <a:schemeClr val="bg1"/>
                </a:solidFill>
              </a:rPr>
              <a:t>حامد کرزی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08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D7A2B-095B-5BC9-C36A-CF77CDF0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5130C-0F94-F30A-CDAF-0019DB3B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3901" y="6226198"/>
            <a:ext cx="290269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0B2CB4-2D45-D885-2F27-1632BD2B19ED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4BA9136-1501-6B41-8CDF-0A76C34299D6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91645B-12C8-736C-87F7-1B6906CC6666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EE12D27-5638-A483-DABF-EE6319442E4E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DF24B7-76AE-4444-CF5A-31DDC749BF0F}"/>
              </a:ext>
            </a:extLst>
          </p:cNvPr>
          <p:cNvSpPr/>
          <p:nvPr/>
        </p:nvSpPr>
        <p:spPr>
          <a:xfrm>
            <a:off x="4758801" y="647306"/>
            <a:ext cx="3095704" cy="88898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403C9"/>
              </a:gs>
              <a:gs pos="100000">
                <a:srgbClr val="3A71FC"/>
              </a:gs>
            </a:gsLst>
            <a:lin ang="0" scaled="0"/>
            <a:tileRect/>
          </a:grad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4000" dirty="0">
                <a:solidFill>
                  <a:schemeClr val="bg1"/>
                </a:solidFill>
              </a:rPr>
              <a:t>حامد کرزی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3693903-A860-D1C7-F9BA-7B61DD556F54}"/>
              </a:ext>
            </a:extLst>
          </p:cNvPr>
          <p:cNvSpPr/>
          <p:nvPr/>
        </p:nvSpPr>
        <p:spPr>
          <a:xfrm>
            <a:off x="3424593" y="1661752"/>
            <a:ext cx="3278038" cy="1069672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600" dirty="0">
                <a:solidFill>
                  <a:schemeClr val="bg1"/>
                </a:solidFill>
              </a:rPr>
              <a:t>ضعف ها :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8234C5-A632-6D95-BCA3-0D90F37FC583}"/>
              </a:ext>
            </a:extLst>
          </p:cNvPr>
          <p:cNvSpPr/>
          <p:nvPr/>
        </p:nvSpPr>
        <p:spPr>
          <a:xfrm>
            <a:off x="8009490" y="1666733"/>
            <a:ext cx="3278038" cy="1069672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600" dirty="0">
                <a:solidFill>
                  <a:schemeClr val="bg1"/>
                </a:solidFill>
              </a:rPr>
              <a:t>دستاورد ها :</a:t>
            </a:r>
            <a:endParaRPr lang="en-US" sz="3600" dirty="0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745CE2-1479-55BA-F57D-5F773C7926E9}"/>
              </a:ext>
            </a:extLst>
          </p:cNvPr>
          <p:cNvGrpSpPr/>
          <p:nvPr/>
        </p:nvGrpSpPr>
        <p:grpSpPr>
          <a:xfrm>
            <a:off x="6870640" y="2533545"/>
            <a:ext cx="3720991" cy="741418"/>
            <a:chOff x="6870640" y="2533545"/>
            <a:chExt cx="3720991" cy="74141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CA1CC4D-1EC1-5090-D7BD-8A9C296F0D8D}"/>
                </a:ext>
              </a:extLst>
            </p:cNvPr>
            <p:cNvSpPr/>
            <p:nvPr/>
          </p:nvSpPr>
          <p:spPr>
            <a:xfrm>
              <a:off x="6870640" y="2533545"/>
              <a:ext cx="3437931" cy="741418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رشد اقتصادی نسبتا خوب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E0A3AE0-B63D-363E-C0FB-DE8F2F2A3F2B}"/>
                </a:ext>
              </a:extLst>
            </p:cNvPr>
            <p:cNvSpPr/>
            <p:nvPr/>
          </p:nvSpPr>
          <p:spPr>
            <a:xfrm>
              <a:off x="10289212" y="2751227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CF015A-1C06-E97B-912D-85CD3A9DBCE8}"/>
              </a:ext>
            </a:extLst>
          </p:cNvPr>
          <p:cNvGrpSpPr/>
          <p:nvPr/>
        </p:nvGrpSpPr>
        <p:grpSpPr>
          <a:xfrm>
            <a:off x="7462761" y="3253746"/>
            <a:ext cx="3437931" cy="515069"/>
            <a:chOff x="7462761" y="3253746"/>
            <a:chExt cx="3437931" cy="515069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D5BED77-9EBB-DEF4-9076-D9B983EDC16B}"/>
                </a:ext>
              </a:extLst>
            </p:cNvPr>
            <p:cNvSpPr/>
            <p:nvPr/>
          </p:nvSpPr>
          <p:spPr>
            <a:xfrm>
              <a:off x="7462761" y="3253746"/>
              <a:ext cx="3437931" cy="515069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استخراج معادن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1B8F450-EA82-C7FC-DE24-AD5D07149C62}"/>
                </a:ext>
              </a:extLst>
            </p:cNvPr>
            <p:cNvSpPr/>
            <p:nvPr/>
          </p:nvSpPr>
          <p:spPr>
            <a:xfrm>
              <a:off x="10291814" y="3332595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BF1CB5A-F184-ABC8-2F2C-7EFF37C13952}"/>
              </a:ext>
            </a:extLst>
          </p:cNvPr>
          <p:cNvGrpSpPr/>
          <p:nvPr/>
        </p:nvGrpSpPr>
        <p:grpSpPr>
          <a:xfrm>
            <a:off x="7051580" y="3750757"/>
            <a:ext cx="3577897" cy="582953"/>
            <a:chOff x="7051580" y="3750757"/>
            <a:chExt cx="3577897" cy="582953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3D4747F-CE04-B040-F9BF-C51D59D37329}"/>
                </a:ext>
              </a:extLst>
            </p:cNvPr>
            <p:cNvSpPr/>
            <p:nvPr/>
          </p:nvSpPr>
          <p:spPr>
            <a:xfrm>
              <a:off x="7051580" y="3750757"/>
              <a:ext cx="3437931" cy="582953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بهبود امنیت و آموزش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818C232-FF11-4DAB-DBDF-60CAA5C893ED}"/>
                </a:ext>
              </a:extLst>
            </p:cNvPr>
            <p:cNvSpPr/>
            <p:nvPr/>
          </p:nvSpPr>
          <p:spPr>
            <a:xfrm>
              <a:off x="10327058" y="3875056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1264AE5-3B11-ACB8-0027-840BCB0A5DB7}"/>
              </a:ext>
            </a:extLst>
          </p:cNvPr>
          <p:cNvGrpSpPr/>
          <p:nvPr/>
        </p:nvGrpSpPr>
        <p:grpSpPr>
          <a:xfrm>
            <a:off x="7271229" y="4396200"/>
            <a:ext cx="3437931" cy="502681"/>
            <a:chOff x="7271229" y="4396200"/>
            <a:chExt cx="3437931" cy="502681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8FE9B0F-A070-0578-A2EC-E1C85E2C53A7}"/>
                </a:ext>
              </a:extLst>
            </p:cNvPr>
            <p:cNvSpPr/>
            <p:nvPr/>
          </p:nvSpPr>
          <p:spPr>
            <a:xfrm>
              <a:off x="7271229" y="4396200"/>
              <a:ext cx="3437931" cy="502681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ایجاد شدن بانک ها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56C32DB-8519-1EDD-F700-FC181C9EEA02}"/>
                </a:ext>
              </a:extLst>
            </p:cNvPr>
            <p:cNvSpPr/>
            <p:nvPr/>
          </p:nvSpPr>
          <p:spPr>
            <a:xfrm>
              <a:off x="10338301" y="4443157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A3AEB1-EEEF-014B-F576-F4DE5C4C1969}"/>
              </a:ext>
            </a:extLst>
          </p:cNvPr>
          <p:cNvGrpSpPr/>
          <p:nvPr/>
        </p:nvGrpSpPr>
        <p:grpSpPr>
          <a:xfrm>
            <a:off x="7046118" y="4995078"/>
            <a:ext cx="3579549" cy="418872"/>
            <a:chOff x="7046118" y="4995078"/>
            <a:chExt cx="3579549" cy="41887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3EA15E2-BF37-EB25-56A1-D104DDED0425}"/>
                </a:ext>
              </a:extLst>
            </p:cNvPr>
            <p:cNvSpPr/>
            <p:nvPr/>
          </p:nvSpPr>
          <p:spPr>
            <a:xfrm>
              <a:off x="7046118" y="5015358"/>
              <a:ext cx="3437931" cy="398592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افزایش درآمد افغانستان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F2A0AD1-7D26-58A7-6665-C71B9CB7E84F}"/>
                </a:ext>
              </a:extLst>
            </p:cNvPr>
            <p:cNvSpPr/>
            <p:nvPr/>
          </p:nvSpPr>
          <p:spPr>
            <a:xfrm>
              <a:off x="10323248" y="4995078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29DA904-E529-A5B9-D051-82F585A2233B}"/>
              </a:ext>
            </a:extLst>
          </p:cNvPr>
          <p:cNvGrpSpPr/>
          <p:nvPr/>
        </p:nvGrpSpPr>
        <p:grpSpPr>
          <a:xfrm>
            <a:off x="7046118" y="5563426"/>
            <a:ext cx="3617863" cy="449046"/>
            <a:chOff x="7046118" y="5563426"/>
            <a:chExt cx="3617863" cy="44904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483730A-1EBF-FA09-304E-979E34F63A00}"/>
                </a:ext>
              </a:extLst>
            </p:cNvPr>
            <p:cNvSpPr/>
            <p:nvPr/>
          </p:nvSpPr>
          <p:spPr>
            <a:xfrm>
              <a:off x="7046118" y="5572383"/>
              <a:ext cx="3437931" cy="440089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افزایش بودجه افغانستان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0771E5E-3289-7BCF-08DE-2FF4620614CD}"/>
                </a:ext>
              </a:extLst>
            </p:cNvPr>
            <p:cNvSpPr/>
            <p:nvPr/>
          </p:nvSpPr>
          <p:spPr>
            <a:xfrm>
              <a:off x="10361562" y="5563426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4A740F5-648B-9819-D624-650C93AC946A}"/>
              </a:ext>
            </a:extLst>
          </p:cNvPr>
          <p:cNvGrpSpPr/>
          <p:nvPr/>
        </p:nvGrpSpPr>
        <p:grpSpPr>
          <a:xfrm>
            <a:off x="764196" y="2600294"/>
            <a:ext cx="5101070" cy="587406"/>
            <a:chOff x="764196" y="2600294"/>
            <a:chExt cx="5101070" cy="587406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619A140-BC09-E080-DDA2-BEF398FA8CA8}"/>
                </a:ext>
              </a:extLst>
            </p:cNvPr>
            <p:cNvSpPr/>
            <p:nvPr/>
          </p:nvSpPr>
          <p:spPr>
            <a:xfrm>
              <a:off x="764196" y="2600294"/>
              <a:ext cx="5015345" cy="587406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وابستگی شدید به کمک های خارجی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821EA80-176A-9103-559F-D1A3F6C4CDA4}"/>
                </a:ext>
              </a:extLst>
            </p:cNvPr>
            <p:cNvGrpSpPr/>
            <p:nvPr/>
          </p:nvGrpSpPr>
          <p:grpSpPr>
            <a:xfrm>
              <a:off x="5574720" y="2790262"/>
              <a:ext cx="290546" cy="292424"/>
              <a:chOff x="5779541" y="3121515"/>
              <a:chExt cx="644457" cy="58740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8F780D65-001D-FAC0-7063-BB263CB765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9541" y="3144008"/>
                <a:ext cx="644457" cy="545307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542FB3B-AFA3-C068-D3D1-96EAE335E5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79541" y="3121515"/>
                <a:ext cx="626002" cy="58740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4D3C21-1824-0E28-75AD-4910740C9595}"/>
              </a:ext>
            </a:extLst>
          </p:cNvPr>
          <p:cNvGrpSpPr/>
          <p:nvPr/>
        </p:nvGrpSpPr>
        <p:grpSpPr>
          <a:xfrm>
            <a:off x="1421173" y="3342161"/>
            <a:ext cx="4452689" cy="404701"/>
            <a:chOff x="1421173" y="3342161"/>
            <a:chExt cx="4452689" cy="404701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7621B96-0DA6-6AD3-DCCC-756CB30F4F3E}"/>
                </a:ext>
              </a:extLst>
            </p:cNvPr>
            <p:cNvSpPr/>
            <p:nvPr/>
          </p:nvSpPr>
          <p:spPr>
            <a:xfrm>
              <a:off x="1421173" y="3342161"/>
              <a:ext cx="4030054" cy="404701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fa-IR" sz="2800" dirty="0">
                  <a:solidFill>
                    <a:schemeClr val="bg1"/>
                  </a:solidFill>
                </a:rPr>
                <a:t>محدود بودن سرمایه گذاری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EF5100A-E4ED-9540-67CD-A3F076BD3566}"/>
                </a:ext>
              </a:extLst>
            </p:cNvPr>
            <p:cNvGrpSpPr/>
            <p:nvPr/>
          </p:nvGrpSpPr>
          <p:grpSpPr>
            <a:xfrm>
              <a:off x="5583316" y="3422352"/>
              <a:ext cx="290546" cy="292424"/>
              <a:chOff x="5779541" y="3121513"/>
              <a:chExt cx="644457" cy="587406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186284A-E23C-81C2-6208-6C9BCA51C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9541" y="3144009"/>
                <a:ext cx="644457" cy="545307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9366E44-AE1D-EDA3-71FA-5C0F743449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79541" y="3121513"/>
                <a:ext cx="626002" cy="58740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475618-E52D-7810-9581-C7A28C16F0D1}"/>
              </a:ext>
            </a:extLst>
          </p:cNvPr>
          <p:cNvGrpSpPr/>
          <p:nvPr/>
        </p:nvGrpSpPr>
        <p:grpSpPr>
          <a:xfrm>
            <a:off x="849922" y="3961192"/>
            <a:ext cx="5041530" cy="519636"/>
            <a:chOff x="849922" y="3961192"/>
            <a:chExt cx="5041530" cy="51963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4E5A955-7A41-63D8-7FDD-DAF99AE98280}"/>
                </a:ext>
              </a:extLst>
            </p:cNvPr>
            <p:cNvSpPr/>
            <p:nvPr/>
          </p:nvSpPr>
          <p:spPr>
            <a:xfrm>
              <a:off x="849922" y="3961192"/>
              <a:ext cx="4626954" cy="519636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fa-IR" sz="2800" dirty="0">
                  <a:solidFill>
                    <a:schemeClr val="bg1"/>
                  </a:solidFill>
                </a:rPr>
                <a:t>عدم صلاحیت کافی رییس جمهور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9B833AA-5911-28A9-4351-C12CD2A60856}"/>
                </a:ext>
              </a:extLst>
            </p:cNvPr>
            <p:cNvGrpSpPr/>
            <p:nvPr/>
          </p:nvGrpSpPr>
          <p:grpSpPr>
            <a:xfrm>
              <a:off x="5600906" y="4114830"/>
              <a:ext cx="290546" cy="292424"/>
              <a:chOff x="5600906" y="4114830"/>
              <a:chExt cx="290546" cy="292424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CC8F1E2-BBA8-7A4C-578C-9C4B5A549C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0906" y="4126029"/>
                <a:ext cx="290546" cy="27146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4540BFC-B963-82DA-48D8-76635B2BDB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00906" y="4114830"/>
                <a:ext cx="282226" cy="292424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6B09E50-60BE-C236-79D5-4C6A02F78FAB}"/>
              </a:ext>
            </a:extLst>
          </p:cNvPr>
          <p:cNvGrpSpPr/>
          <p:nvPr/>
        </p:nvGrpSpPr>
        <p:grpSpPr>
          <a:xfrm>
            <a:off x="1080655" y="4727871"/>
            <a:ext cx="5015345" cy="400381"/>
            <a:chOff x="1080655" y="4727871"/>
            <a:chExt cx="5015345" cy="400381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E457A725-5E69-CAE8-4FEE-18DC73E079BA}"/>
                </a:ext>
              </a:extLst>
            </p:cNvPr>
            <p:cNvSpPr/>
            <p:nvPr/>
          </p:nvSpPr>
          <p:spPr>
            <a:xfrm>
              <a:off x="1080655" y="4727871"/>
              <a:ext cx="5015345" cy="400381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بیکاری (منجر به مهاجرت ها)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17D0BF-3C1B-6BB0-C442-AB3077C055B8}"/>
                </a:ext>
              </a:extLst>
            </p:cNvPr>
            <p:cNvGrpSpPr/>
            <p:nvPr/>
          </p:nvGrpSpPr>
          <p:grpSpPr>
            <a:xfrm>
              <a:off x="5600906" y="4784121"/>
              <a:ext cx="290546" cy="292424"/>
              <a:chOff x="5779541" y="3121513"/>
              <a:chExt cx="644457" cy="587406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44B18BD-D510-FFC6-181D-A14C9DA1CB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9541" y="3144009"/>
                <a:ext cx="644457" cy="545307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94D673D-A206-6D02-2D21-C508A1ED01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79541" y="3121513"/>
                <a:ext cx="626002" cy="58740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2376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u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50"/>
                            </p:stCondLst>
                            <p:childTnLst>
                              <p:par>
                                <p:cTn id="4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50"/>
                            </p:stCondLst>
                            <p:childTnLst>
                              <p:par>
                                <p:cTn id="5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1DA3-3263-514A-F163-F5D9B3EF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CA481-CB19-A5B5-240B-61F7A06F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3901" y="6226198"/>
            <a:ext cx="290269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9F536B-3A41-8016-145A-06FEBDC025D1}"/>
              </a:ext>
            </a:extLst>
          </p:cNvPr>
          <p:cNvCxnSpPr>
            <a:cxnSpLocks/>
          </p:cNvCxnSpPr>
          <p:nvPr/>
        </p:nvCxnSpPr>
        <p:spPr>
          <a:xfrm>
            <a:off x="2745581" y="1984075"/>
            <a:ext cx="6772275" cy="0"/>
          </a:xfrm>
          <a:prstGeom prst="line">
            <a:avLst/>
          </a:prstGeom>
          <a:ln w="28575">
            <a:solidFill>
              <a:srgbClr val="0B021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E34104-39DE-D076-A337-80CB1F72D8E4}"/>
              </a:ext>
            </a:extLst>
          </p:cNvPr>
          <p:cNvCxnSpPr>
            <a:cxnSpLocks/>
          </p:cNvCxnSpPr>
          <p:nvPr/>
        </p:nvCxnSpPr>
        <p:spPr>
          <a:xfrm>
            <a:off x="9517856" y="1984075"/>
            <a:ext cx="1752600" cy="0"/>
          </a:xfrm>
          <a:prstGeom prst="line">
            <a:avLst/>
          </a:prstGeom>
          <a:ln w="28575">
            <a:solidFill>
              <a:srgbClr val="010E2E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C2619-DA31-9ADF-D436-2DA1BDAA70E6}"/>
              </a:ext>
            </a:extLst>
          </p:cNvPr>
          <p:cNvCxnSpPr>
            <a:cxnSpLocks/>
          </p:cNvCxnSpPr>
          <p:nvPr/>
        </p:nvCxnSpPr>
        <p:spPr>
          <a:xfrm>
            <a:off x="793675" y="1984075"/>
            <a:ext cx="1951906" cy="0"/>
          </a:xfrm>
          <a:prstGeom prst="line">
            <a:avLst/>
          </a:prstGeom>
          <a:ln w="28575">
            <a:solidFill>
              <a:srgbClr val="1C023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34FE22-3367-EAE4-E61B-C4878FCDDD4D}"/>
              </a:ext>
            </a:extLst>
          </p:cNvPr>
          <p:cNvSpPr txBox="1"/>
          <p:nvPr/>
        </p:nvSpPr>
        <p:spPr>
          <a:xfrm>
            <a:off x="6248239" y="794270"/>
            <a:ext cx="46181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200" b="1" dirty="0">
                <a:solidFill>
                  <a:schemeClr val="bg1"/>
                </a:solidFill>
              </a:rPr>
              <a:t>رشد اقتصادی کلی  </a:t>
            </a:r>
            <a:r>
              <a:rPr lang="fa-IR" sz="2200" dirty="0">
                <a:solidFill>
                  <a:schemeClr val="bg1"/>
                </a:solidFill>
              </a:rPr>
              <a:t>--------</a:t>
            </a:r>
            <a:r>
              <a:rPr lang="fa-IR" sz="2200" b="1" dirty="0">
                <a:solidFill>
                  <a:schemeClr val="bg1"/>
                </a:solidFill>
              </a:rPr>
              <a:t>   ۲.۹٪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935225-D54E-1D48-38E5-76F1D786D6CE}"/>
              </a:ext>
            </a:extLst>
          </p:cNvPr>
          <p:cNvSpPr txBox="1"/>
          <p:nvPr/>
        </p:nvSpPr>
        <p:spPr>
          <a:xfrm>
            <a:off x="6801206" y="1292038"/>
            <a:ext cx="41485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200" b="1" dirty="0">
                <a:solidFill>
                  <a:schemeClr val="bg1"/>
                </a:solidFill>
              </a:rPr>
              <a:t>در ۲۰۱۲ تا ۲۰۱۳ م  </a:t>
            </a:r>
            <a:r>
              <a:rPr lang="fa-IR" sz="2200" dirty="0">
                <a:solidFill>
                  <a:schemeClr val="bg1"/>
                </a:solidFill>
              </a:rPr>
              <a:t>-----</a:t>
            </a:r>
            <a:r>
              <a:rPr lang="fa-IR" sz="2200" b="1" dirty="0">
                <a:solidFill>
                  <a:schemeClr val="bg1"/>
                </a:solidFill>
              </a:rPr>
              <a:t>   ۸.۱۱٪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21C772ED-DD4E-DB2B-A20F-62DF3B5F0F18}"/>
              </a:ext>
            </a:extLst>
          </p:cNvPr>
          <p:cNvSpPr/>
          <p:nvPr/>
        </p:nvSpPr>
        <p:spPr>
          <a:xfrm rot="16200000">
            <a:off x="11005447" y="934956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F619C2-A043-C1E6-8C8F-BBF3059DB465}"/>
              </a:ext>
            </a:extLst>
          </p:cNvPr>
          <p:cNvSpPr/>
          <p:nvPr/>
        </p:nvSpPr>
        <p:spPr>
          <a:xfrm>
            <a:off x="738768" y="639005"/>
            <a:ext cx="2945495" cy="2183453"/>
          </a:xfrm>
          <a:prstGeom prst="roundRect">
            <a:avLst>
              <a:gd name="adj" fmla="val 1425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14FF0B-F256-790F-792D-E8AE2E270F6E}"/>
              </a:ext>
            </a:extLst>
          </p:cNvPr>
          <p:cNvSpPr/>
          <p:nvPr/>
        </p:nvSpPr>
        <p:spPr>
          <a:xfrm>
            <a:off x="3801590" y="646978"/>
            <a:ext cx="1951906" cy="2175479"/>
          </a:xfrm>
          <a:prstGeom prst="roundRect">
            <a:avLst>
              <a:gd name="adj" fmla="val 14254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4">
                <a:lumMod val="7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4044491-FD22-CF24-890A-0A6E164B1A22}"/>
              </a:ext>
            </a:extLst>
          </p:cNvPr>
          <p:cNvSpPr/>
          <p:nvPr/>
        </p:nvSpPr>
        <p:spPr>
          <a:xfrm>
            <a:off x="698709" y="3898606"/>
            <a:ext cx="2532370" cy="2361588"/>
          </a:xfrm>
          <a:prstGeom prst="roundRect">
            <a:avLst>
              <a:gd name="adj" fmla="val 14254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DE4D0CC-11FC-E4A9-9BCF-0DE3CFC5DE8D}"/>
              </a:ext>
            </a:extLst>
          </p:cNvPr>
          <p:cNvSpPr/>
          <p:nvPr/>
        </p:nvSpPr>
        <p:spPr>
          <a:xfrm>
            <a:off x="8797867" y="3881354"/>
            <a:ext cx="2532370" cy="2361586"/>
          </a:xfrm>
          <a:prstGeom prst="roundRect">
            <a:avLst>
              <a:gd name="adj" fmla="val 14254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A924016-185F-0DC4-F6FA-8A8F789EF0CF}"/>
              </a:ext>
            </a:extLst>
          </p:cNvPr>
          <p:cNvSpPr/>
          <p:nvPr/>
        </p:nvSpPr>
        <p:spPr>
          <a:xfrm>
            <a:off x="3402600" y="3898606"/>
            <a:ext cx="2532369" cy="2361588"/>
          </a:xfrm>
          <a:prstGeom prst="roundRect">
            <a:avLst>
              <a:gd name="adj" fmla="val 14254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4751" t="-13925" r="-8146" b="-14487"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9733D4F-3620-FE79-69D6-AC0CBB0FE367}"/>
              </a:ext>
            </a:extLst>
          </p:cNvPr>
          <p:cNvSpPr/>
          <p:nvPr/>
        </p:nvSpPr>
        <p:spPr>
          <a:xfrm>
            <a:off x="6106494" y="3892935"/>
            <a:ext cx="2532369" cy="2361588"/>
          </a:xfrm>
          <a:prstGeom prst="roundRect">
            <a:avLst>
              <a:gd name="adj" fmla="val 14254"/>
            </a:avLst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7382" r="-25072"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B9F4E8-09DA-6373-83BC-CC5B97453E2C}"/>
              </a:ext>
            </a:extLst>
          </p:cNvPr>
          <p:cNvSpPr txBox="1"/>
          <p:nvPr/>
        </p:nvSpPr>
        <p:spPr>
          <a:xfrm>
            <a:off x="8988322" y="2250664"/>
            <a:ext cx="18780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200" b="1" dirty="0">
                <a:solidFill>
                  <a:schemeClr val="bg1"/>
                </a:solidFill>
              </a:rPr>
              <a:t>استخراج معادن :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CABBDB-0AC1-187C-A276-C47A6F1DA501}"/>
              </a:ext>
            </a:extLst>
          </p:cNvPr>
          <p:cNvSpPr txBox="1"/>
          <p:nvPr/>
        </p:nvSpPr>
        <p:spPr>
          <a:xfrm>
            <a:off x="4176660" y="3248622"/>
            <a:ext cx="669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b="1" dirty="0">
                <a:solidFill>
                  <a:schemeClr val="bg1"/>
                </a:solidFill>
              </a:rPr>
              <a:t>سرمایه گذاری روی معادن مس عینک، ذغال بامیان، نفت شمال و ...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739EB38A-3A73-EFC4-392A-B4EE60EA870E}"/>
              </a:ext>
            </a:extLst>
          </p:cNvPr>
          <p:cNvSpPr/>
          <p:nvPr/>
        </p:nvSpPr>
        <p:spPr>
          <a:xfrm rot="16200000">
            <a:off x="11011178" y="2390424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610634-48A1-AE20-13DA-2B60445C1776}"/>
              </a:ext>
            </a:extLst>
          </p:cNvPr>
          <p:cNvSpPr txBox="1"/>
          <p:nvPr/>
        </p:nvSpPr>
        <p:spPr>
          <a:xfrm>
            <a:off x="5607341" y="2742898"/>
            <a:ext cx="5259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b="1" dirty="0">
                <a:solidFill>
                  <a:schemeClr val="bg1"/>
                </a:solidFill>
              </a:rPr>
              <a:t>ایجاد اولین پروژه بزرگ معدنی (معادن نفت آمو دریا)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6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E54E0-F636-96B2-A186-9C1917DD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B6286-3E0A-27BC-ADBE-C0C153F5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3901" y="6226198"/>
            <a:ext cx="290269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A361FC8-FB62-9624-89C4-F34340CE07D6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B75C1FA6-8DDF-929C-072B-C667024FE8A6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B89D01C-C831-784A-448A-DD6426372462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D1E64AD-1B6E-A60C-4892-D46A2F564384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CCB645F-1730-538E-1BA5-2208ABCC39C7}"/>
              </a:ext>
            </a:extLst>
          </p:cNvPr>
          <p:cNvSpPr txBox="1"/>
          <p:nvPr/>
        </p:nvSpPr>
        <p:spPr>
          <a:xfrm>
            <a:off x="5072333" y="2642009"/>
            <a:ext cx="4306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b="1" dirty="0">
                <a:solidFill>
                  <a:schemeClr val="bg1"/>
                </a:solidFill>
              </a:rPr>
              <a:t>خدمات وام ---- افزایش میزان مشاغل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0E2E61-2482-EEA5-E39D-EE5C23956CE1}"/>
              </a:ext>
            </a:extLst>
          </p:cNvPr>
          <p:cNvSpPr txBox="1"/>
          <p:nvPr/>
        </p:nvSpPr>
        <p:spPr>
          <a:xfrm>
            <a:off x="9274797" y="2603041"/>
            <a:ext cx="1752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200" b="1" dirty="0">
                <a:solidFill>
                  <a:schemeClr val="bg1"/>
                </a:solidFill>
              </a:rPr>
              <a:t>ایجاد بانک ها :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255E06-74CF-BE5B-924B-23DBDB0A976C}"/>
              </a:ext>
            </a:extLst>
          </p:cNvPr>
          <p:cNvSpPr txBox="1"/>
          <p:nvPr/>
        </p:nvSpPr>
        <p:spPr>
          <a:xfrm>
            <a:off x="793675" y="3104955"/>
            <a:ext cx="8538669" cy="475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300"/>
              </a:lnSpc>
            </a:pPr>
            <a:r>
              <a:rPr lang="fa-IR" sz="2000" b="1" dirty="0">
                <a:solidFill>
                  <a:schemeClr val="bg1"/>
                </a:solidFill>
              </a:rPr>
              <a:t>بانک های خصوصی بهتر از بانک های دولتی ---- در سرعت کار و رسیدگی به مطالبات متقاضیان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2B059F-B9E4-9BAE-96BE-CDB58EB7ACDE}"/>
              </a:ext>
            </a:extLst>
          </p:cNvPr>
          <p:cNvSpPr txBox="1"/>
          <p:nvPr/>
        </p:nvSpPr>
        <p:spPr>
          <a:xfrm>
            <a:off x="8953818" y="851433"/>
            <a:ext cx="1951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200" b="1" dirty="0">
                <a:solidFill>
                  <a:schemeClr val="bg1"/>
                </a:solidFill>
              </a:rPr>
              <a:t>بهبود آموزش :   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1E31B-9F80-961E-AD21-F14CE15BED64}"/>
              </a:ext>
            </a:extLst>
          </p:cNvPr>
          <p:cNvSpPr txBox="1"/>
          <p:nvPr/>
        </p:nvSpPr>
        <p:spPr>
          <a:xfrm>
            <a:off x="6151132" y="1357766"/>
            <a:ext cx="4754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b="1" dirty="0">
                <a:solidFill>
                  <a:schemeClr val="bg1"/>
                </a:solidFill>
              </a:rPr>
              <a:t>افزایش</a:t>
            </a:r>
            <a:r>
              <a:rPr lang="fa-IR" sz="1600" dirty="0">
                <a:solidFill>
                  <a:schemeClr val="bg1"/>
                </a:solidFill>
              </a:rPr>
              <a:t> </a:t>
            </a:r>
            <a:r>
              <a:rPr lang="fa-IR" sz="2000" b="1" dirty="0">
                <a:solidFill>
                  <a:schemeClr val="bg1"/>
                </a:solidFill>
              </a:rPr>
              <a:t>دانش آموزان از ۱ میلیون به ۸.۷</a:t>
            </a:r>
            <a:r>
              <a:rPr lang="fa-IR" sz="1600" dirty="0">
                <a:solidFill>
                  <a:schemeClr val="bg1"/>
                </a:solidFill>
              </a:rPr>
              <a:t> </a:t>
            </a:r>
            <a:r>
              <a:rPr lang="fa-IR" sz="2000" b="1" dirty="0">
                <a:solidFill>
                  <a:schemeClr val="bg1"/>
                </a:solidFill>
              </a:rPr>
              <a:t>میلیون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F28A52-AF2C-8823-1F5B-151B4F5C087F}"/>
              </a:ext>
            </a:extLst>
          </p:cNvPr>
          <p:cNvSpPr txBox="1"/>
          <p:nvPr/>
        </p:nvSpPr>
        <p:spPr>
          <a:xfrm>
            <a:off x="6799829" y="1885369"/>
            <a:ext cx="4076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b="1" dirty="0">
                <a:solidFill>
                  <a:schemeClr val="bg1"/>
                </a:solidFill>
              </a:rPr>
              <a:t>افزایش معلمان از ۲۱ هزار به ۱۸۱ هزار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2E19A17B-1125-87E0-17EB-46D322FBBFA5}"/>
              </a:ext>
            </a:extLst>
          </p:cNvPr>
          <p:cNvSpPr/>
          <p:nvPr/>
        </p:nvSpPr>
        <p:spPr>
          <a:xfrm rot="16200000">
            <a:off x="11014978" y="1018666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F761C7A-B817-401E-0AE2-2E36BC8796A1}"/>
              </a:ext>
            </a:extLst>
          </p:cNvPr>
          <p:cNvSpPr/>
          <p:nvPr/>
        </p:nvSpPr>
        <p:spPr>
          <a:xfrm>
            <a:off x="557614" y="546192"/>
            <a:ext cx="2271851" cy="2337107"/>
          </a:xfrm>
          <a:prstGeom prst="roundRect">
            <a:avLst>
              <a:gd name="adj" fmla="val 1425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7069"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2EA99411-511F-7192-2BD9-0D584BBC389F}"/>
              </a:ext>
            </a:extLst>
          </p:cNvPr>
          <p:cNvSpPr/>
          <p:nvPr/>
        </p:nvSpPr>
        <p:spPr>
          <a:xfrm rot="16200000">
            <a:off x="11014978" y="2720175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1CCB4AA-A5D8-F49D-D686-85FE2FDCFB22}"/>
              </a:ext>
            </a:extLst>
          </p:cNvPr>
          <p:cNvSpPr/>
          <p:nvPr/>
        </p:nvSpPr>
        <p:spPr>
          <a:xfrm>
            <a:off x="5086470" y="3913854"/>
            <a:ext cx="2271851" cy="2475591"/>
          </a:xfrm>
          <a:prstGeom prst="roundRect">
            <a:avLst>
              <a:gd name="adj" fmla="val 14254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FF7F365-81C2-E34E-DEA5-1EBD07B25EF3}"/>
              </a:ext>
            </a:extLst>
          </p:cNvPr>
          <p:cNvSpPr/>
          <p:nvPr/>
        </p:nvSpPr>
        <p:spPr>
          <a:xfrm>
            <a:off x="523343" y="3936241"/>
            <a:ext cx="4402346" cy="2434967"/>
          </a:xfrm>
          <a:prstGeom prst="roundRect">
            <a:avLst>
              <a:gd name="adj" fmla="val 14254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1516901-75D9-3C17-C154-BC09D4995C91}"/>
              </a:ext>
            </a:extLst>
          </p:cNvPr>
          <p:cNvSpPr/>
          <p:nvPr/>
        </p:nvSpPr>
        <p:spPr>
          <a:xfrm>
            <a:off x="7519359" y="3895617"/>
            <a:ext cx="4186687" cy="2475591"/>
          </a:xfrm>
          <a:prstGeom prst="roundRect">
            <a:avLst>
              <a:gd name="adj" fmla="val 14254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5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7" grpId="0" animBg="1"/>
      <p:bldP spid="38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22D3-BA35-8389-D90C-6CEB035E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AE1FF-60E2-6822-07CC-E50CE201A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4505" y="6226198"/>
            <a:ext cx="419665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E7B855-84CF-C266-57A4-6A73E2FFD570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53EAC5E-6492-5C75-40D3-16D0479EDF2F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859AF7A-3606-5F79-6D0C-380FF4056095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0F468B3-569C-1B7A-90F0-C9B1150562DB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6CBA609-E480-BE10-0461-EE802E94EA02}"/>
              </a:ext>
            </a:extLst>
          </p:cNvPr>
          <p:cNvSpPr/>
          <p:nvPr/>
        </p:nvSpPr>
        <p:spPr>
          <a:xfrm rot="16200000">
            <a:off x="10989100" y="1015621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DE0CC6-498A-9676-C2EC-203D79577724}"/>
              </a:ext>
            </a:extLst>
          </p:cNvPr>
          <p:cNvSpPr txBox="1"/>
          <p:nvPr/>
        </p:nvSpPr>
        <p:spPr>
          <a:xfrm>
            <a:off x="6495691" y="875861"/>
            <a:ext cx="4323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200" b="1" dirty="0">
                <a:solidFill>
                  <a:schemeClr val="bg1"/>
                </a:solidFill>
              </a:rPr>
              <a:t>ایجاد شرکت های ساختمانی و جاده سازی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8439FA-1342-5F86-D7F2-7D43228090D1}"/>
              </a:ext>
            </a:extLst>
          </p:cNvPr>
          <p:cNvSpPr txBox="1"/>
          <p:nvPr/>
        </p:nvSpPr>
        <p:spPr>
          <a:xfrm>
            <a:off x="5952227" y="1549057"/>
            <a:ext cx="48672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200" b="1" dirty="0">
                <a:solidFill>
                  <a:schemeClr val="bg1"/>
                </a:solidFill>
              </a:rPr>
              <a:t>افزایش درآمد افغانستان </a:t>
            </a:r>
            <a:r>
              <a:rPr lang="fa-IR" sz="2000" dirty="0">
                <a:solidFill>
                  <a:schemeClr val="bg1"/>
                </a:solidFill>
              </a:rPr>
              <a:t>---</a:t>
            </a:r>
            <a:r>
              <a:rPr lang="fa-IR" sz="2200" b="1" dirty="0">
                <a:solidFill>
                  <a:schemeClr val="bg1"/>
                </a:solidFill>
              </a:rPr>
              <a:t> تا ۱۰۰ ملیارد افغانی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AEAE299-F3BD-B684-4450-5437A303C712}"/>
              </a:ext>
            </a:extLst>
          </p:cNvPr>
          <p:cNvSpPr/>
          <p:nvPr/>
        </p:nvSpPr>
        <p:spPr>
          <a:xfrm rot="16200000">
            <a:off x="10989100" y="2264148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8E3E696-3DC3-C60A-32AB-9AF867CDE08B}"/>
              </a:ext>
            </a:extLst>
          </p:cNvPr>
          <p:cNvSpPr/>
          <p:nvPr/>
        </p:nvSpPr>
        <p:spPr>
          <a:xfrm rot="16200000">
            <a:off x="10989100" y="1635683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2AB845-7DEA-CC54-2D65-4656904200B5}"/>
              </a:ext>
            </a:extLst>
          </p:cNvPr>
          <p:cNvSpPr txBox="1"/>
          <p:nvPr/>
        </p:nvSpPr>
        <p:spPr>
          <a:xfrm>
            <a:off x="5952226" y="2173251"/>
            <a:ext cx="48672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200" b="1" dirty="0">
                <a:solidFill>
                  <a:schemeClr val="bg1"/>
                </a:solidFill>
              </a:rPr>
              <a:t>افزایش بودجه افغانستان </a:t>
            </a:r>
            <a:r>
              <a:rPr lang="fa-IR" sz="2000" dirty="0">
                <a:solidFill>
                  <a:schemeClr val="bg1"/>
                </a:solidFill>
              </a:rPr>
              <a:t>----</a:t>
            </a:r>
            <a:r>
              <a:rPr lang="fa-IR" sz="2200" b="1" dirty="0">
                <a:solidFill>
                  <a:schemeClr val="bg1"/>
                </a:solidFill>
              </a:rPr>
              <a:t> تا ۶.۸ ملیارد دالر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2D15D47-C7D1-FDB3-CA62-056640472EF5}"/>
              </a:ext>
            </a:extLst>
          </p:cNvPr>
          <p:cNvSpPr/>
          <p:nvPr/>
        </p:nvSpPr>
        <p:spPr>
          <a:xfrm>
            <a:off x="527840" y="643680"/>
            <a:ext cx="3324274" cy="2183453"/>
          </a:xfrm>
          <a:prstGeom prst="roundRect">
            <a:avLst>
              <a:gd name="adj" fmla="val 14254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984885-7694-CDC6-04DD-ECBF8294B873}"/>
              </a:ext>
            </a:extLst>
          </p:cNvPr>
          <p:cNvSpPr/>
          <p:nvPr/>
        </p:nvSpPr>
        <p:spPr>
          <a:xfrm>
            <a:off x="3960769" y="643680"/>
            <a:ext cx="1843251" cy="2183453"/>
          </a:xfrm>
          <a:prstGeom prst="roundRect">
            <a:avLst>
              <a:gd name="adj" fmla="val 1425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BBEF13-B8D4-5D92-D3F8-DBB41A724689}"/>
              </a:ext>
            </a:extLst>
          </p:cNvPr>
          <p:cNvSpPr txBox="1"/>
          <p:nvPr/>
        </p:nvSpPr>
        <p:spPr>
          <a:xfrm>
            <a:off x="9576781" y="3270669"/>
            <a:ext cx="163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800" b="1" dirty="0">
                <a:solidFill>
                  <a:schemeClr val="bg1"/>
                </a:solidFill>
              </a:rPr>
              <a:t>ضعف ها :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B8E0D115-AF01-BA90-0430-5B86B7B54858}"/>
              </a:ext>
            </a:extLst>
          </p:cNvPr>
          <p:cNvSpPr/>
          <p:nvPr/>
        </p:nvSpPr>
        <p:spPr>
          <a:xfrm rot="16200000">
            <a:off x="10969873" y="4175160"/>
            <a:ext cx="195751" cy="170275"/>
          </a:xfrm>
          <a:prstGeom prst="triangle">
            <a:avLst>
              <a:gd name="adj" fmla="val 50536"/>
            </a:avLst>
          </a:prstGeom>
          <a:solidFill>
            <a:srgbClr val="FF111E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B016C6-EF66-6DD1-0D0F-E107E7F22B68}"/>
              </a:ext>
            </a:extLst>
          </p:cNvPr>
          <p:cNvSpPr txBox="1"/>
          <p:nvPr/>
        </p:nvSpPr>
        <p:spPr>
          <a:xfrm>
            <a:off x="1958197" y="4031670"/>
            <a:ext cx="88296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200" b="1" dirty="0">
                <a:solidFill>
                  <a:schemeClr val="bg1"/>
                </a:solidFill>
              </a:rPr>
              <a:t>وابستگی شدید به کمک های خارجی </a:t>
            </a:r>
            <a:r>
              <a:rPr lang="fa-IR" sz="2000" dirty="0">
                <a:solidFill>
                  <a:schemeClr val="bg1"/>
                </a:solidFill>
              </a:rPr>
              <a:t>------</a:t>
            </a:r>
            <a:r>
              <a:rPr lang="fa-IR" sz="2200" b="1" dirty="0">
                <a:solidFill>
                  <a:schemeClr val="bg1"/>
                </a:solidFill>
              </a:rPr>
              <a:t> بخصوص کمک های      و اتحادیه اروپا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61B07C-A03E-CD41-9E65-9B64FB3F9A1E}"/>
              </a:ext>
            </a:extLst>
          </p:cNvPr>
          <p:cNvSpPr txBox="1"/>
          <p:nvPr/>
        </p:nvSpPr>
        <p:spPr>
          <a:xfrm>
            <a:off x="3131390" y="4657339"/>
            <a:ext cx="7656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200" b="1" dirty="0">
                <a:solidFill>
                  <a:schemeClr val="bg1"/>
                </a:solidFill>
              </a:rPr>
              <a:t>کاهش نرخ برابری پول ملی افغانستان </a:t>
            </a:r>
            <a:r>
              <a:rPr lang="fa-IR" sz="2000" dirty="0">
                <a:solidFill>
                  <a:schemeClr val="bg1"/>
                </a:solidFill>
              </a:rPr>
              <a:t>-----</a:t>
            </a:r>
            <a:r>
              <a:rPr lang="fa-IR" sz="2200" b="1" dirty="0">
                <a:solidFill>
                  <a:schemeClr val="bg1"/>
                </a:solidFill>
              </a:rPr>
              <a:t> در حدود ۸٪ در سال ۲۰۱۲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6344F385-7F1F-00E5-141F-EB4222CF79E1}"/>
              </a:ext>
            </a:extLst>
          </p:cNvPr>
          <p:cNvSpPr/>
          <p:nvPr/>
        </p:nvSpPr>
        <p:spPr>
          <a:xfrm rot="16200000">
            <a:off x="10969872" y="4754693"/>
            <a:ext cx="195751" cy="170275"/>
          </a:xfrm>
          <a:prstGeom prst="triangle">
            <a:avLst>
              <a:gd name="adj" fmla="val 50536"/>
            </a:avLst>
          </a:prstGeom>
          <a:solidFill>
            <a:srgbClr val="FF111E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5996CC-0653-E5D5-0992-9BAC37028366}"/>
              </a:ext>
            </a:extLst>
          </p:cNvPr>
          <p:cNvSpPr txBox="1"/>
          <p:nvPr/>
        </p:nvSpPr>
        <p:spPr>
          <a:xfrm>
            <a:off x="4293818" y="3996364"/>
            <a:ext cx="5885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>
                <a:solidFill>
                  <a:schemeClr val="bg1"/>
                </a:solidFill>
              </a:rPr>
              <a:t>US</a:t>
            </a:r>
            <a:endParaRPr lang="fa-IR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25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950C-76D2-E706-09C4-652E1DCCD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C2585-1616-0141-5CA0-262CF8ED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BFE2488-46F8-4643-79D3-C0C342E79101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C9846DA-FE27-85C0-5275-C3C2BF6B43D1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ADFD02E-C812-83F4-E0F6-1101340E4FB8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411512C-AD9F-3D86-F40C-2B9C090AB454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78E9747-C1AE-AB82-9F14-AC52B33C26B6}"/>
              </a:ext>
            </a:extLst>
          </p:cNvPr>
          <p:cNvSpPr/>
          <p:nvPr/>
        </p:nvSpPr>
        <p:spPr>
          <a:xfrm>
            <a:off x="307829" y="342899"/>
            <a:ext cx="11584967" cy="6248424"/>
          </a:xfrm>
          <a:custGeom>
            <a:avLst/>
            <a:gdLst>
              <a:gd name="connsiteX0" fmla="*/ 0 w 11576342"/>
              <a:gd name="connsiteY0" fmla="*/ 0 h 6248424"/>
              <a:gd name="connsiteX1" fmla="*/ 11576342 w 11576342"/>
              <a:gd name="connsiteY1" fmla="*/ 0 h 6248424"/>
              <a:gd name="connsiteX2" fmla="*/ 11576342 w 11576342"/>
              <a:gd name="connsiteY2" fmla="*/ 6248424 h 6248424"/>
              <a:gd name="connsiteX3" fmla="*/ 0 w 11576342"/>
              <a:gd name="connsiteY3" fmla="*/ 6248424 h 6248424"/>
              <a:gd name="connsiteX4" fmla="*/ 0 w 11576342"/>
              <a:gd name="connsiteY4" fmla="*/ 0 h 6248424"/>
              <a:gd name="connsiteX0" fmla="*/ 0 w 11584968"/>
              <a:gd name="connsiteY0" fmla="*/ 0 h 6248424"/>
              <a:gd name="connsiteX1" fmla="*/ 11584968 w 11584968"/>
              <a:gd name="connsiteY1" fmla="*/ 8627 h 6248424"/>
              <a:gd name="connsiteX2" fmla="*/ 11576342 w 11584968"/>
              <a:gd name="connsiteY2" fmla="*/ 6248424 h 6248424"/>
              <a:gd name="connsiteX3" fmla="*/ 0 w 11584968"/>
              <a:gd name="connsiteY3" fmla="*/ 6248424 h 6248424"/>
              <a:gd name="connsiteX4" fmla="*/ 0 w 11584968"/>
              <a:gd name="connsiteY4" fmla="*/ 0 h 624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84968" h="6248424">
                <a:moveTo>
                  <a:pt x="0" y="0"/>
                </a:moveTo>
                <a:lnTo>
                  <a:pt x="11584968" y="8627"/>
                </a:lnTo>
                <a:cubicBezTo>
                  <a:pt x="11582093" y="2088559"/>
                  <a:pt x="11579217" y="4168492"/>
                  <a:pt x="11576342" y="6248424"/>
                </a:cubicBezTo>
                <a:lnTo>
                  <a:pt x="0" y="6248424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361" r="-1"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20F2DC-1865-6DA8-A9E1-B4CAB29F81E7}"/>
              </a:ext>
            </a:extLst>
          </p:cNvPr>
          <p:cNvSpPr/>
          <p:nvPr/>
        </p:nvSpPr>
        <p:spPr>
          <a:xfrm>
            <a:off x="8509699" y="637614"/>
            <a:ext cx="3095704" cy="88898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403C9"/>
              </a:gs>
              <a:gs pos="100000">
                <a:srgbClr val="3A71FC"/>
              </a:gs>
            </a:gsLst>
            <a:lin ang="0" scaled="0"/>
            <a:tileRect/>
          </a:grad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4000" dirty="0">
                <a:solidFill>
                  <a:schemeClr val="bg1"/>
                </a:solidFill>
              </a:rPr>
              <a:t>اشرف غنی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56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C595C-9BBE-FB62-4F6A-CB63F5245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A2AD5-E9ED-6B17-395C-CAABCA92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3901" y="6226198"/>
            <a:ext cx="290269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EB2BBBA-AABE-71B0-F74D-44FA5A71DC4E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BA69EA8F-B6BB-4673-9B10-7844B18CA4BB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2E5D9D-E176-E514-0225-6171BCB282BB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5EFA6AD-0393-1E0B-69E0-D09A1E7F005C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A92C9D-5B5F-CD0D-77E1-5A5AF1FD77E9}"/>
              </a:ext>
            </a:extLst>
          </p:cNvPr>
          <p:cNvSpPr/>
          <p:nvPr/>
        </p:nvSpPr>
        <p:spPr>
          <a:xfrm>
            <a:off x="4758801" y="647306"/>
            <a:ext cx="3095704" cy="88898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403C9"/>
              </a:gs>
              <a:gs pos="100000">
                <a:srgbClr val="3A71FC"/>
              </a:gs>
            </a:gsLst>
            <a:lin ang="0" scaled="0"/>
            <a:tileRect/>
          </a:grad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4000" dirty="0">
                <a:solidFill>
                  <a:schemeClr val="bg1"/>
                </a:solidFill>
              </a:rPr>
              <a:t>اشرف غنی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A92F503-7ECE-D6F1-6F93-1964362F2EDD}"/>
              </a:ext>
            </a:extLst>
          </p:cNvPr>
          <p:cNvSpPr/>
          <p:nvPr/>
        </p:nvSpPr>
        <p:spPr>
          <a:xfrm>
            <a:off x="3424593" y="1661752"/>
            <a:ext cx="3278038" cy="1069672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600" dirty="0">
                <a:solidFill>
                  <a:schemeClr val="bg1"/>
                </a:solidFill>
              </a:rPr>
              <a:t>ضعف ها :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21B543-0FEE-BAA4-B180-DE1D1BDEEA1E}"/>
              </a:ext>
            </a:extLst>
          </p:cNvPr>
          <p:cNvSpPr/>
          <p:nvPr/>
        </p:nvSpPr>
        <p:spPr>
          <a:xfrm>
            <a:off x="8009490" y="1666733"/>
            <a:ext cx="3278038" cy="1069672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600" dirty="0">
                <a:solidFill>
                  <a:schemeClr val="bg1"/>
                </a:solidFill>
              </a:rPr>
              <a:t>دستاورد ها :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0F50A5-C2EE-58FF-2C0D-7B8B8D1D694D}"/>
              </a:ext>
            </a:extLst>
          </p:cNvPr>
          <p:cNvSpPr/>
          <p:nvPr/>
        </p:nvSpPr>
        <p:spPr>
          <a:xfrm>
            <a:off x="6870640" y="2542171"/>
            <a:ext cx="3437931" cy="741418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F41C82-8928-5876-0665-F976F2F333B9}"/>
              </a:ext>
            </a:extLst>
          </p:cNvPr>
          <p:cNvGrpSpPr/>
          <p:nvPr/>
        </p:nvGrpSpPr>
        <p:grpSpPr>
          <a:xfrm>
            <a:off x="6150539" y="3253746"/>
            <a:ext cx="4443694" cy="515069"/>
            <a:chOff x="6150539" y="3253746"/>
            <a:chExt cx="4443694" cy="515069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C1A5431-4B48-F32B-B260-C18C30E72133}"/>
                </a:ext>
              </a:extLst>
            </p:cNvPr>
            <p:cNvSpPr/>
            <p:nvPr/>
          </p:nvSpPr>
          <p:spPr>
            <a:xfrm>
              <a:off x="6150539" y="3253746"/>
              <a:ext cx="4198061" cy="515069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سرمایه گذاری بخش خصوصی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FFA3A5D-2853-CC25-316D-3D7F0278E23F}"/>
                </a:ext>
              </a:extLst>
            </p:cNvPr>
            <p:cNvSpPr/>
            <p:nvPr/>
          </p:nvSpPr>
          <p:spPr>
            <a:xfrm>
              <a:off x="10291814" y="3332595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D723AD-FABC-D360-B998-DDF0D0054809}"/>
              </a:ext>
            </a:extLst>
          </p:cNvPr>
          <p:cNvGrpSpPr/>
          <p:nvPr/>
        </p:nvGrpSpPr>
        <p:grpSpPr>
          <a:xfrm>
            <a:off x="7992238" y="3750757"/>
            <a:ext cx="2637239" cy="582953"/>
            <a:chOff x="7992238" y="3750757"/>
            <a:chExt cx="2637239" cy="582953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089351D-7046-502C-AE17-32B482D5BBE4}"/>
                </a:ext>
              </a:extLst>
            </p:cNvPr>
            <p:cNvSpPr/>
            <p:nvPr/>
          </p:nvSpPr>
          <p:spPr>
            <a:xfrm>
              <a:off x="7992238" y="3750757"/>
              <a:ext cx="2480021" cy="582953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بهبود ترانزیت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C96ABFE-5534-A15F-8D1A-67E494802EDA}"/>
                </a:ext>
              </a:extLst>
            </p:cNvPr>
            <p:cNvSpPr/>
            <p:nvPr/>
          </p:nvSpPr>
          <p:spPr>
            <a:xfrm>
              <a:off x="10327058" y="3875056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CDB6F5-54B7-5313-1B8D-19882399C963}"/>
              </a:ext>
            </a:extLst>
          </p:cNvPr>
          <p:cNvGrpSpPr/>
          <p:nvPr/>
        </p:nvGrpSpPr>
        <p:grpSpPr>
          <a:xfrm>
            <a:off x="7781026" y="4396200"/>
            <a:ext cx="2928134" cy="502681"/>
            <a:chOff x="7781026" y="4396200"/>
            <a:chExt cx="2928134" cy="502681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AEC8297-00F2-092B-2140-3E3253AC11B1}"/>
                </a:ext>
              </a:extLst>
            </p:cNvPr>
            <p:cNvSpPr/>
            <p:nvPr/>
          </p:nvSpPr>
          <p:spPr>
            <a:xfrm>
              <a:off x="7781026" y="4396200"/>
              <a:ext cx="2928134" cy="502681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مدیریت آب ها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8C83BF0-CA17-490E-030E-D373299FFAC7}"/>
                </a:ext>
              </a:extLst>
            </p:cNvPr>
            <p:cNvSpPr/>
            <p:nvPr/>
          </p:nvSpPr>
          <p:spPr>
            <a:xfrm>
              <a:off x="10338301" y="4443157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C67C62-1C8F-3B92-9A4D-3CA5A0354620}"/>
              </a:ext>
            </a:extLst>
          </p:cNvPr>
          <p:cNvGrpSpPr/>
          <p:nvPr/>
        </p:nvGrpSpPr>
        <p:grpSpPr>
          <a:xfrm>
            <a:off x="6810258" y="4995078"/>
            <a:ext cx="3815409" cy="418872"/>
            <a:chOff x="6810258" y="4995078"/>
            <a:chExt cx="3815409" cy="41887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92E1A3A-E263-D171-899A-84A20D096E2D}"/>
                </a:ext>
              </a:extLst>
            </p:cNvPr>
            <p:cNvSpPr/>
            <p:nvPr/>
          </p:nvSpPr>
          <p:spPr>
            <a:xfrm>
              <a:off x="6810258" y="5015358"/>
              <a:ext cx="3613409" cy="398592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بهبود تجارت و صادرات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D4162A3-DDA2-97CE-321A-0C2C351352DB}"/>
                </a:ext>
              </a:extLst>
            </p:cNvPr>
            <p:cNvSpPr/>
            <p:nvPr/>
          </p:nvSpPr>
          <p:spPr>
            <a:xfrm>
              <a:off x="10323248" y="4995078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3CBAB5-8FF2-EED4-5364-1C17E6EA232D}"/>
              </a:ext>
            </a:extLst>
          </p:cNvPr>
          <p:cNvGrpSpPr/>
          <p:nvPr/>
        </p:nvGrpSpPr>
        <p:grpSpPr>
          <a:xfrm>
            <a:off x="8085068" y="5563426"/>
            <a:ext cx="2561661" cy="449046"/>
            <a:chOff x="8085068" y="5563426"/>
            <a:chExt cx="2561661" cy="44904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3D8B1A0-3A22-BD1B-C305-5398937B44F0}"/>
                </a:ext>
              </a:extLst>
            </p:cNvPr>
            <p:cNvSpPr/>
            <p:nvPr/>
          </p:nvSpPr>
          <p:spPr>
            <a:xfrm>
              <a:off x="8085068" y="5572383"/>
              <a:ext cx="2312721" cy="440089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رشد اقتصادی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4EECE1-CA32-EF24-4A31-4757B2A7536D}"/>
                </a:ext>
              </a:extLst>
            </p:cNvPr>
            <p:cNvSpPr/>
            <p:nvPr/>
          </p:nvSpPr>
          <p:spPr>
            <a:xfrm>
              <a:off x="10344310" y="5563426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E140819-0F6D-1945-34D5-99F8CD55CEAB}"/>
              </a:ext>
            </a:extLst>
          </p:cNvPr>
          <p:cNvGrpSpPr/>
          <p:nvPr/>
        </p:nvGrpSpPr>
        <p:grpSpPr>
          <a:xfrm>
            <a:off x="1306709" y="2600294"/>
            <a:ext cx="4558557" cy="587406"/>
            <a:chOff x="1306709" y="2600294"/>
            <a:chExt cx="4558557" cy="587406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F00D5342-10DB-90D9-4234-E54291DEE704}"/>
                </a:ext>
              </a:extLst>
            </p:cNvPr>
            <p:cNvSpPr/>
            <p:nvPr/>
          </p:nvSpPr>
          <p:spPr>
            <a:xfrm>
              <a:off x="1306709" y="2600294"/>
              <a:ext cx="4472832" cy="587406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وابستگی به کمک های خارجی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D84BB1D-B8FB-6C5B-EA74-966D0DB33355}"/>
                </a:ext>
              </a:extLst>
            </p:cNvPr>
            <p:cNvGrpSpPr/>
            <p:nvPr/>
          </p:nvGrpSpPr>
          <p:grpSpPr>
            <a:xfrm>
              <a:off x="5574720" y="2790262"/>
              <a:ext cx="290546" cy="292424"/>
              <a:chOff x="5779541" y="3121515"/>
              <a:chExt cx="644457" cy="58740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EEDF031-E4F2-0DCB-5660-31D4D76EE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9541" y="3144008"/>
                <a:ext cx="644457" cy="545307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AE9E2F4-5CB5-61E8-0B23-9D17E3F4F3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79541" y="3121515"/>
                <a:ext cx="626002" cy="58740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37C857-2784-2CF2-70DF-2002CEE54646}"/>
              </a:ext>
            </a:extLst>
          </p:cNvPr>
          <p:cNvGrpSpPr/>
          <p:nvPr/>
        </p:nvGrpSpPr>
        <p:grpSpPr>
          <a:xfrm>
            <a:off x="1080655" y="3342161"/>
            <a:ext cx="4793207" cy="404701"/>
            <a:chOff x="1080655" y="3342161"/>
            <a:chExt cx="4793207" cy="404701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72D6DFF-2943-4A19-ED91-2666E41E2096}"/>
                </a:ext>
              </a:extLst>
            </p:cNvPr>
            <p:cNvSpPr/>
            <p:nvPr/>
          </p:nvSpPr>
          <p:spPr>
            <a:xfrm>
              <a:off x="1080655" y="3342161"/>
              <a:ext cx="4370572" cy="404701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fa-IR" sz="2800" dirty="0">
                  <a:solidFill>
                    <a:schemeClr val="bg1"/>
                  </a:solidFill>
                </a:rPr>
                <a:t>امنیت نامساعد و فساد اداری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FD2ADA3-68DC-6D3F-1386-E125051F488E}"/>
                </a:ext>
              </a:extLst>
            </p:cNvPr>
            <p:cNvGrpSpPr/>
            <p:nvPr/>
          </p:nvGrpSpPr>
          <p:grpSpPr>
            <a:xfrm>
              <a:off x="5583316" y="3422352"/>
              <a:ext cx="290546" cy="292424"/>
              <a:chOff x="5779541" y="3121513"/>
              <a:chExt cx="644457" cy="587406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FE8B775-D78B-29C3-6572-BB74F5B881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9541" y="3144009"/>
                <a:ext cx="644457" cy="545307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8BBB3B6-BB5F-8F6E-74BB-AB279B643B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79541" y="3121513"/>
                <a:ext cx="626002" cy="58740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9016E89-02F5-31C7-44E6-52C0B201A8F8}"/>
              </a:ext>
            </a:extLst>
          </p:cNvPr>
          <p:cNvGrpSpPr/>
          <p:nvPr/>
        </p:nvGrpSpPr>
        <p:grpSpPr>
          <a:xfrm>
            <a:off x="849922" y="3961192"/>
            <a:ext cx="5041530" cy="519636"/>
            <a:chOff x="849922" y="3961192"/>
            <a:chExt cx="5041530" cy="51963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BA4FA3B-8FE4-A896-0FA1-162FC68D24EC}"/>
                </a:ext>
              </a:extLst>
            </p:cNvPr>
            <p:cNvSpPr/>
            <p:nvPr/>
          </p:nvSpPr>
          <p:spPr>
            <a:xfrm>
              <a:off x="849922" y="3961192"/>
              <a:ext cx="4626954" cy="519636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fa-IR" sz="2800" dirty="0">
                  <a:solidFill>
                    <a:schemeClr val="bg1"/>
                  </a:solidFill>
                </a:rPr>
                <a:t>بیرون رفتن سرمایه گذاران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8C7B1FD-2B19-A415-5F03-93787041301B}"/>
                </a:ext>
              </a:extLst>
            </p:cNvPr>
            <p:cNvGrpSpPr/>
            <p:nvPr/>
          </p:nvGrpSpPr>
          <p:grpSpPr>
            <a:xfrm>
              <a:off x="5600906" y="4114830"/>
              <a:ext cx="290546" cy="292424"/>
              <a:chOff x="5779541" y="3121513"/>
              <a:chExt cx="644457" cy="587406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23539D3-DB70-52DE-897B-E1B643E5A0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9541" y="3144009"/>
                <a:ext cx="644457" cy="545307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631B04B5-7B68-CA23-F520-07F4A13756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79541" y="3121513"/>
                <a:ext cx="626002" cy="58740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40815F7-A54A-A4F2-606A-1A559A5BC63F}"/>
              </a:ext>
            </a:extLst>
          </p:cNvPr>
          <p:cNvGrpSpPr/>
          <p:nvPr/>
        </p:nvGrpSpPr>
        <p:grpSpPr>
          <a:xfrm>
            <a:off x="2907102" y="4727871"/>
            <a:ext cx="3188898" cy="400381"/>
            <a:chOff x="2907102" y="4727871"/>
            <a:chExt cx="3188898" cy="400381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73A0E728-859A-0CCC-7035-BA59B481CE34}"/>
                </a:ext>
              </a:extLst>
            </p:cNvPr>
            <p:cNvSpPr/>
            <p:nvPr/>
          </p:nvSpPr>
          <p:spPr>
            <a:xfrm>
              <a:off x="2907102" y="4727871"/>
              <a:ext cx="3188898" cy="400381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بیکاری و فقر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231C68D-F180-3BAA-0141-4FAEBAB166F8}"/>
                </a:ext>
              </a:extLst>
            </p:cNvPr>
            <p:cNvGrpSpPr/>
            <p:nvPr/>
          </p:nvGrpSpPr>
          <p:grpSpPr>
            <a:xfrm>
              <a:off x="5600906" y="4784121"/>
              <a:ext cx="290546" cy="292424"/>
              <a:chOff x="5779541" y="3121513"/>
              <a:chExt cx="644457" cy="587406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1C2EDA6-F8FC-1D36-8295-16C29FDC3B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9541" y="3144009"/>
                <a:ext cx="644457" cy="545307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7B9D6F6-B248-AF24-E1BA-8A38F98C47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79541" y="3121513"/>
                <a:ext cx="626002" cy="58740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38F6215-61AD-650C-9AB2-C1BF4D4026FC}"/>
              </a:ext>
            </a:extLst>
          </p:cNvPr>
          <p:cNvGrpSpPr/>
          <p:nvPr/>
        </p:nvGrpSpPr>
        <p:grpSpPr>
          <a:xfrm>
            <a:off x="7901798" y="2646740"/>
            <a:ext cx="2689833" cy="515069"/>
            <a:chOff x="7901798" y="2646740"/>
            <a:chExt cx="2689833" cy="515069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070F9E7-A7CE-F440-0BFA-6DB05B14383A}"/>
                </a:ext>
              </a:extLst>
            </p:cNvPr>
            <p:cNvSpPr/>
            <p:nvPr/>
          </p:nvSpPr>
          <p:spPr>
            <a:xfrm>
              <a:off x="10289212" y="2751227"/>
              <a:ext cx="302419" cy="234289"/>
            </a:xfrm>
            <a:custGeom>
              <a:avLst/>
              <a:gdLst>
                <a:gd name="connsiteX0" fmla="*/ 0 w 1976582"/>
                <a:gd name="connsiteY0" fmla="*/ 868218 h 1431636"/>
                <a:gd name="connsiteX1" fmla="*/ 517236 w 1976582"/>
                <a:gd name="connsiteY1" fmla="*/ 1431636 h 1431636"/>
                <a:gd name="connsiteX2" fmla="*/ 1976582 w 1976582"/>
                <a:gd name="connsiteY2" fmla="*/ 0 h 1431636"/>
                <a:gd name="connsiteX3" fmla="*/ 1976582 w 1976582"/>
                <a:gd name="connsiteY3" fmla="*/ 0 h 143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6582" h="1431636">
                  <a:moveTo>
                    <a:pt x="0" y="868218"/>
                  </a:moveTo>
                  <a:lnTo>
                    <a:pt x="517236" y="1431636"/>
                  </a:lnTo>
                  <a:lnTo>
                    <a:pt x="1976582" y="0"/>
                  </a:lnTo>
                  <a:lnTo>
                    <a:pt x="1976582" y="0"/>
                  </a:lnTo>
                </a:path>
              </a:pathLst>
            </a:cu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190CE66-2E11-170F-D8E9-28CEBD041E94}"/>
                </a:ext>
              </a:extLst>
            </p:cNvPr>
            <p:cNvSpPr/>
            <p:nvPr/>
          </p:nvSpPr>
          <p:spPr>
            <a:xfrm>
              <a:off x="7901798" y="2646740"/>
              <a:ext cx="2633106" cy="515069"/>
            </a:xfrm>
            <a:prstGeom prst="roundRect">
              <a:avLst>
                <a:gd name="adj" fmla="val 5000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</a:rPr>
                <a:t>تعامل با جهان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892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50"/>
                            </p:stCondLst>
                            <p:childTnLst>
                              <p:par>
                                <p:cTn id="4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50"/>
                            </p:stCondLst>
                            <p:childTnLst>
                              <p:par>
                                <p:cTn id="5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380F-6F38-7AAF-4C2D-A833A07D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9441E-46DD-C7FA-86B3-9723698B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3901" y="6226198"/>
            <a:ext cx="290269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AF7495-EFE4-B51E-6045-2D9FFB075E4B}"/>
              </a:ext>
            </a:extLst>
          </p:cNvPr>
          <p:cNvCxnSpPr>
            <a:cxnSpLocks/>
          </p:cNvCxnSpPr>
          <p:nvPr/>
        </p:nvCxnSpPr>
        <p:spPr>
          <a:xfrm>
            <a:off x="2745581" y="1984075"/>
            <a:ext cx="6772275" cy="0"/>
          </a:xfrm>
          <a:prstGeom prst="line">
            <a:avLst/>
          </a:prstGeom>
          <a:ln w="28575">
            <a:solidFill>
              <a:srgbClr val="0B021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108FA9-3038-27B0-628C-E345EF50F67E}"/>
              </a:ext>
            </a:extLst>
          </p:cNvPr>
          <p:cNvCxnSpPr>
            <a:cxnSpLocks/>
          </p:cNvCxnSpPr>
          <p:nvPr/>
        </p:nvCxnSpPr>
        <p:spPr>
          <a:xfrm>
            <a:off x="9319450" y="1984075"/>
            <a:ext cx="1929395" cy="0"/>
          </a:xfrm>
          <a:prstGeom prst="line">
            <a:avLst/>
          </a:prstGeom>
          <a:ln w="28575">
            <a:solidFill>
              <a:srgbClr val="010E2E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93BD52-E59C-FBB1-DC30-8209F90C0F73}"/>
              </a:ext>
            </a:extLst>
          </p:cNvPr>
          <p:cNvCxnSpPr>
            <a:cxnSpLocks/>
          </p:cNvCxnSpPr>
          <p:nvPr/>
        </p:nvCxnSpPr>
        <p:spPr>
          <a:xfrm>
            <a:off x="793675" y="1984075"/>
            <a:ext cx="1951906" cy="0"/>
          </a:xfrm>
          <a:prstGeom prst="line">
            <a:avLst/>
          </a:prstGeom>
          <a:ln w="28575">
            <a:solidFill>
              <a:srgbClr val="1C023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4E2B0A-6105-4BA8-1B4C-3E776A1AE416}"/>
              </a:ext>
            </a:extLst>
          </p:cNvPr>
          <p:cNvSpPr txBox="1"/>
          <p:nvPr/>
        </p:nvSpPr>
        <p:spPr>
          <a:xfrm>
            <a:off x="5980823" y="3252775"/>
            <a:ext cx="4618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b="1" dirty="0">
                <a:solidFill>
                  <a:schemeClr val="bg1"/>
                </a:solidFill>
              </a:rPr>
              <a:t>رشد اقتصادی کلی  </a:t>
            </a:r>
            <a:r>
              <a:rPr lang="fa-IR" sz="2400" dirty="0">
                <a:solidFill>
                  <a:schemeClr val="bg1"/>
                </a:solidFill>
              </a:rPr>
              <a:t>--------</a:t>
            </a:r>
            <a:r>
              <a:rPr lang="fa-IR" sz="2400" b="1" dirty="0">
                <a:solidFill>
                  <a:schemeClr val="bg1"/>
                </a:solidFill>
              </a:rPr>
              <a:t>   ۱.۵٪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05FE157-85DA-22CA-A949-DD88ED782F62}"/>
              </a:ext>
            </a:extLst>
          </p:cNvPr>
          <p:cNvSpPr/>
          <p:nvPr/>
        </p:nvSpPr>
        <p:spPr>
          <a:xfrm rot="16200000">
            <a:off x="10738031" y="3393461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F0F577-75B3-E19D-CAE0-4E3D80AE2D30}"/>
              </a:ext>
            </a:extLst>
          </p:cNvPr>
          <p:cNvSpPr txBox="1"/>
          <p:nvPr/>
        </p:nvSpPr>
        <p:spPr>
          <a:xfrm>
            <a:off x="4977446" y="2533297"/>
            <a:ext cx="5180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 دوستی با عربستان (از دست دادن حمایت ایران)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76F5BB32-0DCC-BE72-355E-C7A819621466}"/>
              </a:ext>
            </a:extLst>
          </p:cNvPr>
          <p:cNvSpPr/>
          <p:nvPr/>
        </p:nvSpPr>
        <p:spPr>
          <a:xfrm rot="16200000">
            <a:off x="10743762" y="4141572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7A2211-2B43-9EE0-E61E-36755530912F}"/>
              </a:ext>
            </a:extLst>
          </p:cNvPr>
          <p:cNvSpPr txBox="1"/>
          <p:nvPr/>
        </p:nvSpPr>
        <p:spPr>
          <a:xfrm>
            <a:off x="8811971" y="860402"/>
            <a:ext cx="181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b="1" dirty="0">
                <a:solidFill>
                  <a:schemeClr val="bg1"/>
                </a:solidFill>
              </a:rPr>
              <a:t>تعامل با جهان :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FE8E1EE2-22BA-AE65-B1A5-63A98E8E4025}"/>
              </a:ext>
            </a:extLst>
          </p:cNvPr>
          <p:cNvSpPr/>
          <p:nvPr/>
        </p:nvSpPr>
        <p:spPr>
          <a:xfrm rot="16200000">
            <a:off x="10769663" y="1001088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D710B8-4AD9-8045-4BDE-562E479DEEA0}"/>
              </a:ext>
            </a:extLst>
          </p:cNvPr>
          <p:cNvGrpSpPr/>
          <p:nvPr/>
        </p:nvGrpSpPr>
        <p:grpSpPr>
          <a:xfrm>
            <a:off x="4833844" y="1460615"/>
            <a:ext cx="5259065" cy="479540"/>
            <a:chOff x="4258791" y="833688"/>
            <a:chExt cx="5259065" cy="47954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3F4E0A-5942-540D-41B1-AF117793831C}"/>
                </a:ext>
              </a:extLst>
            </p:cNvPr>
            <p:cNvSpPr txBox="1"/>
            <p:nvPr/>
          </p:nvSpPr>
          <p:spPr>
            <a:xfrm>
              <a:off x="4258791" y="851563"/>
              <a:ext cx="52590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a-IR" sz="2400" dirty="0">
                  <a:solidFill>
                    <a:schemeClr val="bg1"/>
                  </a:solidFill>
                </a:rPr>
                <a:t>توافقنامه امنیتی با        (واشنگتن)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6B5459-D3BC-C59D-8E19-B2D6D600FE5B}"/>
                </a:ext>
              </a:extLst>
            </p:cNvPr>
            <p:cNvSpPr txBox="1"/>
            <p:nvPr/>
          </p:nvSpPr>
          <p:spPr>
            <a:xfrm>
              <a:off x="7085215" y="833688"/>
              <a:ext cx="600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>
                  <a:solidFill>
                    <a:schemeClr val="bg1"/>
                  </a:solidFill>
                </a:rPr>
                <a:t>US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67E9F44-D45E-AA78-3A84-356F6D8D0FA3}"/>
              </a:ext>
            </a:extLst>
          </p:cNvPr>
          <p:cNvSpPr txBox="1"/>
          <p:nvPr/>
        </p:nvSpPr>
        <p:spPr>
          <a:xfrm>
            <a:off x="4833845" y="1999283"/>
            <a:ext cx="5259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دوستی با اسلام آباد (از دست دادن حمایت هند)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D47B6-856F-6B61-2F95-92FBB2BEBF0A}"/>
              </a:ext>
            </a:extLst>
          </p:cNvPr>
          <p:cNvSpPr txBox="1"/>
          <p:nvPr/>
        </p:nvSpPr>
        <p:spPr>
          <a:xfrm>
            <a:off x="5995203" y="4001812"/>
            <a:ext cx="4618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b="1" dirty="0">
                <a:solidFill>
                  <a:schemeClr val="bg1"/>
                </a:solidFill>
              </a:rPr>
              <a:t>سرمایه گذاری سکتور خصوصی : 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7791C0-311F-9C27-2B6E-D0A839D52402}"/>
              </a:ext>
            </a:extLst>
          </p:cNvPr>
          <p:cNvSpPr txBox="1"/>
          <p:nvPr/>
        </p:nvSpPr>
        <p:spPr>
          <a:xfrm>
            <a:off x="3999110" y="4544594"/>
            <a:ext cx="6127630" cy="1107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200"/>
              </a:lnSpc>
            </a:pPr>
            <a:r>
              <a:rPr lang="fa-IR" sz="2400" dirty="0">
                <a:solidFill>
                  <a:schemeClr val="bg1"/>
                </a:solidFill>
              </a:rPr>
              <a:t>به گفته وزارت اقتصاد سرمایه گذاری بخش خصوصی در افغانستان در سال ۱۳۹۵ به ۱ تا ۱.۵ ملیارد دالر می رسید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A2F1557-12BA-60D3-65E1-B2181844471C}"/>
              </a:ext>
            </a:extLst>
          </p:cNvPr>
          <p:cNvSpPr/>
          <p:nvPr/>
        </p:nvSpPr>
        <p:spPr>
          <a:xfrm>
            <a:off x="527839" y="574665"/>
            <a:ext cx="4003893" cy="2611871"/>
          </a:xfrm>
          <a:prstGeom prst="roundRect">
            <a:avLst>
              <a:gd name="adj" fmla="val 1425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50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76257-CB78-72E0-4B06-1C4F65A5C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EC962-4FCA-DA89-B11C-5F0ECD2A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C4F87EE-1E96-EB35-0073-43A348A6809C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864705D-C594-981A-2533-6460D2F6A391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4520B9A-FF45-7FBF-5AEA-4F5C2D01E465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040100B-0DE1-3721-2860-2C39E748E813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2DD4E0C-90EC-4660-7EB8-B5B8FFB30F6A}"/>
              </a:ext>
            </a:extLst>
          </p:cNvPr>
          <p:cNvSpPr txBox="1"/>
          <p:nvPr/>
        </p:nvSpPr>
        <p:spPr>
          <a:xfrm>
            <a:off x="9140971" y="818665"/>
            <a:ext cx="192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b="1" dirty="0">
                <a:solidFill>
                  <a:schemeClr val="bg1"/>
                </a:solidFill>
              </a:rPr>
              <a:t>بهبود ترانزیت : 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1275DA0E-B6EF-68CE-DA34-EBE3EC6B3F89}"/>
              </a:ext>
            </a:extLst>
          </p:cNvPr>
          <p:cNvSpPr/>
          <p:nvPr/>
        </p:nvSpPr>
        <p:spPr>
          <a:xfrm rot="16200000">
            <a:off x="11106670" y="973813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C943A-22DB-8C16-A68B-411B44055174}"/>
              </a:ext>
            </a:extLst>
          </p:cNvPr>
          <p:cNvSpPr txBox="1"/>
          <p:nvPr/>
        </p:nvSpPr>
        <p:spPr>
          <a:xfrm>
            <a:off x="4872463" y="1371176"/>
            <a:ext cx="5771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ایجاد کمیته برای حل مشکلات ترانزیتی با همسایگان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142EDC-E064-3052-908C-37A0E5E9EBBB}"/>
              </a:ext>
            </a:extLst>
          </p:cNvPr>
          <p:cNvSpPr txBox="1"/>
          <p:nvPr/>
        </p:nvSpPr>
        <p:spPr>
          <a:xfrm>
            <a:off x="5934188" y="2954270"/>
            <a:ext cx="47093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رهایی از راه های ترانزیتی پاکستان و تعامل بیشتر با آسیای میانه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3A3E54-BC0C-9CA6-9F5E-D598F747C13D}"/>
              </a:ext>
            </a:extLst>
          </p:cNvPr>
          <p:cNvSpPr txBox="1"/>
          <p:nvPr/>
        </p:nvSpPr>
        <p:spPr>
          <a:xfrm>
            <a:off x="7284982" y="3943725"/>
            <a:ext cx="3358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خط آهن افغانستان - ترکمنستان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36DAE2-50F7-2A03-767F-A437B0395E98}"/>
              </a:ext>
            </a:extLst>
          </p:cNvPr>
          <p:cNvSpPr txBox="1"/>
          <p:nvPr/>
        </p:nvSpPr>
        <p:spPr>
          <a:xfrm>
            <a:off x="7952769" y="4525945"/>
            <a:ext cx="2690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خط آهن افغانستان - چین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1AC62F-2DA2-D78F-B38F-048B6D841E84}"/>
              </a:ext>
            </a:extLst>
          </p:cNvPr>
          <p:cNvSpPr txBox="1"/>
          <p:nvPr/>
        </p:nvSpPr>
        <p:spPr>
          <a:xfrm>
            <a:off x="6175726" y="1966767"/>
            <a:ext cx="4467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افتتاح راه لاجورد --- انتقال تولیدات</a:t>
            </a:r>
            <a:endParaRPr lang="en-US" sz="2400" dirty="0">
              <a:solidFill>
                <a:schemeClr val="bg1"/>
              </a:solidFill>
            </a:endParaRPr>
          </a:p>
          <a:p>
            <a:pPr algn="r"/>
            <a:r>
              <a:rPr lang="fa-IR" sz="2400" dirty="0">
                <a:solidFill>
                  <a:schemeClr val="bg1"/>
                </a:solidFill>
              </a:rPr>
              <a:t> افغانستان از بندر آقینه و تورغندی به اروپا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6F1C0F-252F-1358-C8F5-9AC34919DE57}"/>
              </a:ext>
            </a:extLst>
          </p:cNvPr>
          <p:cNvSpPr/>
          <p:nvPr/>
        </p:nvSpPr>
        <p:spPr>
          <a:xfrm>
            <a:off x="553754" y="604380"/>
            <a:ext cx="4347115" cy="2698443"/>
          </a:xfrm>
          <a:prstGeom prst="roundRect">
            <a:avLst>
              <a:gd name="adj" fmla="val 14254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4B9626-E8DD-34F0-2AB6-77027564E8C3}"/>
              </a:ext>
            </a:extLst>
          </p:cNvPr>
          <p:cNvSpPr/>
          <p:nvPr/>
        </p:nvSpPr>
        <p:spPr>
          <a:xfrm>
            <a:off x="553753" y="3425258"/>
            <a:ext cx="4347115" cy="2846234"/>
          </a:xfrm>
          <a:prstGeom prst="roundRect">
            <a:avLst>
              <a:gd name="adj" fmla="val 1425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17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509C-5A04-E38C-AC9E-C3723CB5A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D8255-C046-4E03-5821-88C8822C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0D2F47A-20B8-7314-2589-954B3CC8512C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662FA88-D1A7-75A1-7CA5-5DCFEA8969CC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4C54A34-F0E3-E12B-B457-3BFAF669DF7F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7D06948-E344-FCA9-1D86-C21F4C18EB70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FC251F04-7631-15DA-20BE-AC4A0EFF00B7}"/>
              </a:ext>
            </a:extLst>
          </p:cNvPr>
          <p:cNvSpPr/>
          <p:nvPr/>
        </p:nvSpPr>
        <p:spPr>
          <a:xfrm rot="16200000">
            <a:off x="11107702" y="1010499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4B3DF4-E258-51FA-9952-F9BC5C7A2535}"/>
              </a:ext>
            </a:extLst>
          </p:cNvPr>
          <p:cNvSpPr txBox="1"/>
          <p:nvPr/>
        </p:nvSpPr>
        <p:spPr>
          <a:xfrm>
            <a:off x="7703389" y="849855"/>
            <a:ext cx="3358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b="1" dirty="0">
                <a:solidFill>
                  <a:schemeClr val="bg1"/>
                </a:solidFill>
              </a:rPr>
              <a:t>سهم گیری در ترانزیت انرژی :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8CC308-18D7-B559-6B57-7CD5B4B624C2}"/>
              </a:ext>
            </a:extLst>
          </p:cNvPr>
          <p:cNvSpPr txBox="1"/>
          <p:nvPr/>
        </p:nvSpPr>
        <p:spPr>
          <a:xfrm>
            <a:off x="1664899" y="1389481"/>
            <a:ext cx="872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پروژه کاسا یک هزار ---- انتقال برق قرغزستان و تاجکستان به افغانستان و پاکستان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FD5F69-2F47-6B3E-9CF1-1507FCF61476}"/>
              </a:ext>
            </a:extLst>
          </p:cNvPr>
          <p:cNvSpPr txBox="1"/>
          <p:nvPr/>
        </p:nvSpPr>
        <p:spPr>
          <a:xfrm>
            <a:off x="1664899" y="1957905"/>
            <a:ext cx="872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پروژه تاپی --- انتقال گاز ترکمنستان به پاکستان و هند از طریق افغانستان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578DF-80A1-F5C3-E51B-20564018FA32}"/>
              </a:ext>
            </a:extLst>
          </p:cNvPr>
          <p:cNvSpPr txBox="1"/>
          <p:nvPr/>
        </p:nvSpPr>
        <p:spPr>
          <a:xfrm>
            <a:off x="1664899" y="3294993"/>
            <a:ext cx="872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بند سلما ----  بار اول داود خان به کمک هند آغاز کرد اما ناتکمیل ماند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A6E4CA66-AD4F-DADC-E9CA-6D6FE7E9C13D}"/>
              </a:ext>
            </a:extLst>
          </p:cNvPr>
          <p:cNvSpPr/>
          <p:nvPr/>
        </p:nvSpPr>
        <p:spPr>
          <a:xfrm rot="16200000">
            <a:off x="11107702" y="2822037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F3EA8A-5F86-7165-2480-B5B841397DEC}"/>
              </a:ext>
            </a:extLst>
          </p:cNvPr>
          <p:cNvSpPr txBox="1"/>
          <p:nvPr/>
        </p:nvSpPr>
        <p:spPr>
          <a:xfrm>
            <a:off x="7677511" y="2661393"/>
            <a:ext cx="3358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b="1" dirty="0">
                <a:solidFill>
                  <a:schemeClr val="bg1"/>
                </a:solidFill>
              </a:rPr>
              <a:t>مدیریت آب ها :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57575A-E4DF-1B95-6337-AC5BD0424A6C}"/>
              </a:ext>
            </a:extLst>
          </p:cNvPr>
          <p:cNvSpPr txBox="1"/>
          <p:nvPr/>
        </p:nvSpPr>
        <p:spPr>
          <a:xfrm>
            <a:off x="411713" y="3921265"/>
            <a:ext cx="872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  بار دوم پس از ۲۵ سال به کمک شرکت هندی واپکاس آغاز شد اما ناتکمیل ماند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AB6D6-9990-EAC7-D366-587CC47B2F07}"/>
              </a:ext>
            </a:extLst>
          </p:cNvPr>
          <p:cNvSpPr txBox="1"/>
          <p:nvPr/>
        </p:nvSpPr>
        <p:spPr>
          <a:xfrm>
            <a:off x="411713" y="4558091"/>
            <a:ext cx="872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  بلاخره اشرف غنی به کمک نرندا مودی نخست وزیر هند تکمیل کرد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745149-7904-AADA-0B6F-F03EA98D04AD}"/>
              </a:ext>
            </a:extLst>
          </p:cNvPr>
          <p:cNvSpPr txBox="1"/>
          <p:nvPr/>
        </p:nvSpPr>
        <p:spPr>
          <a:xfrm>
            <a:off x="1664899" y="5138472"/>
            <a:ext cx="872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بند کجکی --- قرارداد فاز دوم آن با یک شرکت ترکی در ۱۳۹۵ آغاز شد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15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4DFC9-1E9F-429E-3D12-816DC546D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FAAB2-4735-BBF9-1012-C3F5C4A1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493F69-DAC5-BCA2-B798-A9435F2C16C1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7A9DB5D-3353-757C-0B98-3FD5C3C16D11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73DF630-F15B-F544-D4E5-71B4ECDD9871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8FB99B9-9DB4-9DD8-BD60-43FFEB270A6A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83F832A-3427-0454-0E99-987EA1CE0D13}"/>
              </a:ext>
            </a:extLst>
          </p:cNvPr>
          <p:cNvSpPr/>
          <p:nvPr/>
        </p:nvSpPr>
        <p:spPr>
          <a:xfrm>
            <a:off x="5902075" y="3369850"/>
            <a:ext cx="4815109" cy="3022321"/>
          </a:xfrm>
          <a:prstGeom prst="roundRect">
            <a:avLst>
              <a:gd name="adj" fmla="val 14254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8BB4621-D6A0-1372-9A49-0B637A7D6300}"/>
              </a:ext>
            </a:extLst>
          </p:cNvPr>
          <p:cNvSpPr/>
          <p:nvPr/>
        </p:nvSpPr>
        <p:spPr>
          <a:xfrm>
            <a:off x="1133249" y="547984"/>
            <a:ext cx="4582733" cy="2617910"/>
          </a:xfrm>
          <a:prstGeom prst="roundRect">
            <a:avLst>
              <a:gd name="adj" fmla="val 1425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E9BB855-9C67-73FE-5C3E-D8B530E74974}"/>
              </a:ext>
            </a:extLst>
          </p:cNvPr>
          <p:cNvSpPr/>
          <p:nvPr/>
        </p:nvSpPr>
        <p:spPr>
          <a:xfrm>
            <a:off x="1133249" y="3366757"/>
            <a:ext cx="4582733" cy="3031976"/>
          </a:xfrm>
          <a:prstGeom prst="roundRect">
            <a:avLst>
              <a:gd name="adj" fmla="val 14254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F9C381F-370E-0A02-D58E-EE1466DA7C69}"/>
              </a:ext>
            </a:extLst>
          </p:cNvPr>
          <p:cNvSpPr/>
          <p:nvPr/>
        </p:nvSpPr>
        <p:spPr>
          <a:xfrm>
            <a:off x="7923598" y="2096486"/>
            <a:ext cx="2664278" cy="6286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530FC"/>
              </a:gs>
              <a:gs pos="100000">
                <a:srgbClr val="6792FD"/>
              </a:gs>
            </a:gsLst>
            <a:lin ang="0" scaled="0"/>
            <a:tileRect/>
          </a:grad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4000" dirty="0">
                <a:solidFill>
                  <a:schemeClr val="bg1"/>
                </a:solidFill>
              </a:rPr>
              <a:t>بند سلما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26BF17-03BF-FEF7-5371-460CCFDFDE15}"/>
              </a:ext>
            </a:extLst>
          </p:cNvPr>
          <p:cNvSpPr/>
          <p:nvPr/>
        </p:nvSpPr>
        <p:spPr>
          <a:xfrm>
            <a:off x="7923597" y="1382706"/>
            <a:ext cx="2664278" cy="6286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530FC"/>
              </a:gs>
              <a:gs pos="100000">
                <a:srgbClr val="6792FD"/>
              </a:gs>
            </a:gsLst>
            <a:lin ang="0" scaled="0"/>
            <a:tileRect/>
          </a:grad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4000" dirty="0">
                <a:solidFill>
                  <a:schemeClr val="bg1"/>
                </a:solidFill>
              </a:rPr>
              <a:t>بند کجکی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8A34599-6BD5-C115-9AAB-9DC4ADFFF6DE}"/>
              </a:ext>
            </a:extLst>
          </p:cNvPr>
          <p:cNvSpPr/>
          <p:nvPr/>
        </p:nvSpPr>
        <p:spPr>
          <a:xfrm>
            <a:off x="7923596" y="637420"/>
            <a:ext cx="2664279" cy="6286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530FC"/>
              </a:gs>
              <a:gs pos="100000">
                <a:srgbClr val="6792FD"/>
              </a:gs>
            </a:gsLst>
            <a:lin ang="0" scaled="0"/>
            <a:tileRect/>
          </a:grad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600" dirty="0">
                <a:solidFill>
                  <a:schemeClr val="bg1"/>
                </a:solidFill>
              </a:rPr>
              <a:t>بند کمال خان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37EFE29-A26C-7CEA-C8E7-A0A5A71B3C87}"/>
              </a:ext>
            </a:extLst>
          </p:cNvPr>
          <p:cNvSpPr/>
          <p:nvPr/>
        </p:nvSpPr>
        <p:spPr>
          <a:xfrm>
            <a:off x="7985876" y="717494"/>
            <a:ext cx="517237" cy="526469"/>
          </a:xfrm>
          <a:prstGeom prst="ellipse">
            <a:avLst/>
          </a:prstGeom>
          <a:gradFill>
            <a:gsLst>
              <a:gs pos="0">
                <a:srgbClr val="A530FC"/>
              </a:gs>
              <a:gs pos="100000">
                <a:srgbClr val="6792F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B76E933-9D24-7E53-82E5-E99309452E07}"/>
              </a:ext>
            </a:extLst>
          </p:cNvPr>
          <p:cNvSpPr/>
          <p:nvPr/>
        </p:nvSpPr>
        <p:spPr>
          <a:xfrm>
            <a:off x="7985876" y="2175652"/>
            <a:ext cx="517237" cy="526469"/>
          </a:xfrm>
          <a:prstGeom prst="ellipse">
            <a:avLst/>
          </a:prstGeom>
          <a:gradFill>
            <a:gsLst>
              <a:gs pos="0">
                <a:srgbClr val="A530FC"/>
              </a:gs>
              <a:gs pos="100000">
                <a:srgbClr val="6792F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73367F3-AEA8-80BE-0D4C-9A0C650D40F4}"/>
              </a:ext>
            </a:extLst>
          </p:cNvPr>
          <p:cNvSpPr/>
          <p:nvPr/>
        </p:nvSpPr>
        <p:spPr>
          <a:xfrm>
            <a:off x="7985875" y="1434907"/>
            <a:ext cx="517237" cy="526469"/>
          </a:xfrm>
          <a:prstGeom prst="ellipse">
            <a:avLst/>
          </a:prstGeom>
          <a:gradFill>
            <a:gsLst>
              <a:gs pos="0">
                <a:srgbClr val="A530FC"/>
              </a:gs>
              <a:gs pos="100000">
                <a:srgbClr val="6792F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4807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44444E-6 L -0.23958 -0.00463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-0.24101 0.3078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57" y="1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59259E-6 L 0.16966 0.20047 " pathEditMode="relative" rAng="0" ptsTypes="AA">
                                      <p:cBhvr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77" y="1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29FF-BBCA-1713-1E40-B1070B28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43A2B-0454-48BB-A201-AA1A0C21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CE9D03A-26AC-6089-FBDF-A8EB19DFAE26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C033D47-5A76-1F40-EC08-C1DB099B859C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C3708D-77D3-414D-6545-E247BDAB43B2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047099C-BEB7-F49A-09A3-C4A8FB79DBDB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B069655-EAF8-DABA-17AE-CB1B0DA6A117}"/>
              </a:ext>
            </a:extLst>
          </p:cNvPr>
          <p:cNvSpPr/>
          <p:nvPr/>
        </p:nvSpPr>
        <p:spPr>
          <a:xfrm rot="16200000">
            <a:off x="11107702" y="1131269"/>
            <a:ext cx="176204" cy="151368"/>
          </a:xfrm>
          <a:prstGeom prst="triangle">
            <a:avLst>
              <a:gd name="adj" fmla="val 50536"/>
            </a:avLst>
          </a:prstGeom>
          <a:solidFill>
            <a:srgbClr val="66FF99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3ECC3-32A7-9A2E-CC36-DEEEAFD79209}"/>
              </a:ext>
            </a:extLst>
          </p:cNvPr>
          <p:cNvSpPr txBox="1"/>
          <p:nvPr/>
        </p:nvSpPr>
        <p:spPr>
          <a:xfrm>
            <a:off x="9756477" y="970625"/>
            <a:ext cx="1279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b="1" dirty="0">
                <a:solidFill>
                  <a:schemeClr val="bg1"/>
                </a:solidFill>
              </a:rPr>
              <a:t>صادرات :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F45AE2-BB63-3D1E-E9BA-5F22E532B114}"/>
              </a:ext>
            </a:extLst>
          </p:cNvPr>
          <p:cNvSpPr txBox="1"/>
          <p:nvPr/>
        </p:nvSpPr>
        <p:spPr>
          <a:xfrm>
            <a:off x="3536830" y="2354713"/>
            <a:ext cx="6885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زعفران  ---- ۱۶ تن تولید در ۱۳۹۷ و ۹۰٪ آن صادر می شود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7255D8-B04B-E71D-F334-DA44BB21A04E}"/>
              </a:ext>
            </a:extLst>
          </p:cNvPr>
          <p:cNvSpPr txBox="1"/>
          <p:nvPr/>
        </p:nvSpPr>
        <p:spPr>
          <a:xfrm>
            <a:off x="3982374" y="1674822"/>
            <a:ext cx="6453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گیاهان دارویی ----  صادرات به ارزش ۳۴ میلیون دالر 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DED786-6E01-5796-BCAD-EA7593DF25D1}"/>
              </a:ext>
            </a:extLst>
          </p:cNvPr>
          <p:cNvSpPr txBox="1"/>
          <p:nvPr/>
        </p:nvSpPr>
        <p:spPr>
          <a:xfrm>
            <a:off x="3940159" y="3033328"/>
            <a:ext cx="6453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میوه تازه ---- ۲۰۰۰ تا ۳۰۰۰ تن در روز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3FA34B-2419-9E50-4BDD-C604C4710362}"/>
              </a:ext>
            </a:extLst>
          </p:cNvPr>
          <p:cNvSpPr txBox="1"/>
          <p:nvPr/>
        </p:nvSpPr>
        <p:spPr>
          <a:xfrm>
            <a:off x="1328468" y="3764784"/>
            <a:ext cx="9107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طلای سیاه (جلغوزه) ---  قبلا ۱۰۰۰۰  تن جلغوزه ما از پاکستان به چین صادر می شد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B312F-E9CC-BA89-F825-F21B9EE3B467}"/>
              </a:ext>
            </a:extLst>
          </p:cNvPr>
          <p:cNvSpPr txBox="1"/>
          <p:nvPr/>
        </p:nvSpPr>
        <p:spPr>
          <a:xfrm>
            <a:off x="3968149" y="4445770"/>
            <a:ext cx="6453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dirty="0">
                <a:solidFill>
                  <a:schemeClr val="bg1"/>
                </a:solidFill>
              </a:rPr>
              <a:t>صادرات مجموعی  --- ۵۰۰ میلیون در سال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98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D51C-0504-6FF1-9510-6379352A1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6F9D2-2E84-F152-86AB-EFF3CBE31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6DE835-0A7D-21F5-4873-32544F8A4CFC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3E1004-C261-6E5F-105C-F5951A3EDA4E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E8CFBCB-633E-C88B-E32A-F1BB6F46AB5E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CA625F-53DF-952E-43E4-395E8FECED50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C3084A5-1A3E-8A62-7321-267CFACD86D7}"/>
              </a:ext>
            </a:extLst>
          </p:cNvPr>
          <p:cNvSpPr/>
          <p:nvPr/>
        </p:nvSpPr>
        <p:spPr>
          <a:xfrm>
            <a:off x="1191685" y="3559428"/>
            <a:ext cx="4380747" cy="2869076"/>
          </a:xfrm>
          <a:prstGeom prst="roundRect">
            <a:avLst>
              <a:gd name="adj" fmla="val 14254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613633-F2AE-1635-9954-1AEEDBE422AD}"/>
              </a:ext>
            </a:extLst>
          </p:cNvPr>
          <p:cNvSpPr/>
          <p:nvPr/>
        </p:nvSpPr>
        <p:spPr>
          <a:xfrm>
            <a:off x="5764030" y="3567551"/>
            <a:ext cx="4380748" cy="2860952"/>
          </a:xfrm>
          <a:prstGeom prst="roundRect">
            <a:avLst>
              <a:gd name="adj" fmla="val 1425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AAC754-8BC1-9192-00E0-B8BD2BFDC2B3}"/>
              </a:ext>
            </a:extLst>
          </p:cNvPr>
          <p:cNvSpPr/>
          <p:nvPr/>
        </p:nvSpPr>
        <p:spPr>
          <a:xfrm>
            <a:off x="1208198" y="502191"/>
            <a:ext cx="4380748" cy="2869076"/>
          </a:xfrm>
          <a:prstGeom prst="roundRect">
            <a:avLst>
              <a:gd name="adj" fmla="val 14254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111" t="1" r="-3537" b="-8653"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A544F9-C7A1-334B-D3DC-5D87E8C5537C}"/>
              </a:ext>
            </a:extLst>
          </p:cNvPr>
          <p:cNvSpPr/>
          <p:nvPr/>
        </p:nvSpPr>
        <p:spPr>
          <a:xfrm>
            <a:off x="5772926" y="512733"/>
            <a:ext cx="4380747" cy="2869077"/>
          </a:xfrm>
          <a:prstGeom prst="roundRect">
            <a:avLst>
              <a:gd name="adj" fmla="val 14254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3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5611E-7248-817A-2D24-D87492C7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A1762-7ADD-29D8-F289-3F7F1332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09B258-A97D-89A8-2FE9-B2A800617EEB}"/>
              </a:ext>
            </a:extLst>
          </p:cNvPr>
          <p:cNvGrpSpPr/>
          <p:nvPr/>
        </p:nvGrpSpPr>
        <p:grpSpPr>
          <a:xfrm>
            <a:off x="793675" y="1984075"/>
            <a:ext cx="10476781" cy="0"/>
            <a:chOff x="793675" y="1984075"/>
            <a:chExt cx="10476781" cy="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AD8C854-2404-0146-F17B-5E167A728D5D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81" y="1984075"/>
              <a:ext cx="6772275" cy="0"/>
            </a:xfrm>
            <a:prstGeom prst="line">
              <a:avLst/>
            </a:prstGeom>
            <a:ln w="28575">
              <a:solidFill>
                <a:srgbClr val="0B0215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9A27B0C-A0CF-4EA1-118C-83131A610F98}"/>
                </a:ext>
              </a:extLst>
            </p:cNvPr>
            <p:cNvCxnSpPr>
              <a:cxnSpLocks/>
            </p:cNvCxnSpPr>
            <p:nvPr/>
          </p:nvCxnSpPr>
          <p:spPr>
            <a:xfrm>
              <a:off x="9517856" y="1984075"/>
              <a:ext cx="1752600" cy="0"/>
            </a:xfrm>
            <a:prstGeom prst="line">
              <a:avLst/>
            </a:prstGeom>
            <a:ln w="28575">
              <a:solidFill>
                <a:srgbClr val="010E2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849D919-5F72-1570-4178-800761F01E87}"/>
                </a:ext>
              </a:extLst>
            </p:cNvPr>
            <p:cNvCxnSpPr>
              <a:cxnSpLocks/>
            </p:cNvCxnSpPr>
            <p:nvPr/>
          </p:nvCxnSpPr>
          <p:spPr>
            <a:xfrm>
              <a:off x="793675" y="1984075"/>
              <a:ext cx="1951906" cy="0"/>
            </a:xfrm>
            <a:prstGeom prst="line">
              <a:avLst/>
            </a:prstGeom>
            <a:ln w="28575">
              <a:solidFill>
                <a:srgbClr val="1C023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003B7DB-7CAD-D48E-1076-95E55052FF09}"/>
              </a:ext>
            </a:extLst>
          </p:cNvPr>
          <p:cNvSpPr/>
          <p:nvPr/>
        </p:nvSpPr>
        <p:spPr>
          <a:xfrm>
            <a:off x="4756212" y="647306"/>
            <a:ext cx="2679576" cy="88898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403C9"/>
              </a:gs>
              <a:gs pos="100000">
                <a:srgbClr val="3A71FC"/>
              </a:gs>
            </a:gsLst>
            <a:lin ang="0" scaled="0"/>
            <a:tileRect/>
          </a:gradFill>
          <a:ln w="12700">
            <a:solidFill>
              <a:schemeClr val="accent1">
                <a:shade val="15000"/>
                <a:alpha val="7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4000" dirty="0">
                <a:solidFill>
                  <a:schemeClr val="bg1"/>
                </a:solidFill>
              </a:rPr>
              <a:t>منابع </a:t>
            </a:r>
            <a:endParaRPr lang="en-US" sz="40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D89718-CD9B-78F3-694B-AA89022107F1}"/>
              </a:ext>
            </a:extLst>
          </p:cNvPr>
          <p:cNvCxnSpPr>
            <a:cxnSpLocks/>
          </p:cNvCxnSpPr>
          <p:nvPr/>
        </p:nvCxnSpPr>
        <p:spPr>
          <a:xfrm>
            <a:off x="1114985" y="2216714"/>
            <a:ext cx="224287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3F7474-4953-B6E4-42E8-40CD7A8C5F03}"/>
              </a:ext>
            </a:extLst>
          </p:cNvPr>
          <p:cNvSpPr txBox="1"/>
          <p:nvPr/>
        </p:nvSpPr>
        <p:spPr>
          <a:xfrm>
            <a:off x="1114285" y="1916334"/>
            <a:ext cx="3467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solidFill>
                  <a:srgbClr val="00B0F0"/>
                </a:solidFill>
              </a:rPr>
              <a:t>afghan-german.net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C4C96-6F7E-4DF9-DEBF-0F65848A2CC9}"/>
              </a:ext>
            </a:extLst>
          </p:cNvPr>
          <p:cNvSpPr txBox="1"/>
          <p:nvPr/>
        </p:nvSpPr>
        <p:spPr>
          <a:xfrm>
            <a:off x="1149489" y="2540422"/>
            <a:ext cx="375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solidFill>
                  <a:srgbClr val="00B0F0"/>
                </a:solidFill>
              </a:rPr>
              <a:t>af.dawatmedia24.com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4077A6-7F11-9E1E-F4A6-7AACC2C9DD01}"/>
              </a:ext>
            </a:extLst>
          </p:cNvPr>
          <p:cNvSpPr txBox="1"/>
          <p:nvPr/>
        </p:nvSpPr>
        <p:spPr>
          <a:xfrm>
            <a:off x="1243680" y="3224846"/>
            <a:ext cx="3467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solidFill>
                  <a:srgbClr val="00B0F0"/>
                </a:solidFill>
              </a:rPr>
              <a:t>donya-e-eqtesad.com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223E28-067F-8B9D-7C7B-5E98D7876550}"/>
              </a:ext>
            </a:extLst>
          </p:cNvPr>
          <p:cNvSpPr txBox="1"/>
          <p:nvPr/>
        </p:nvSpPr>
        <p:spPr>
          <a:xfrm>
            <a:off x="1515220" y="3797890"/>
            <a:ext cx="3467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solidFill>
                  <a:srgbClr val="00B0F0"/>
                </a:solidFill>
              </a:rPr>
              <a:t>ixport.ir//tag/afghanistan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36A383-44B8-0D9F-73CF-5C214D5D03A3}"/>
              </a:ext>
            </a:extLst>
          </p:cNvPr>
          <p:cNvSpPr txBox="1"/>
          <p:nvPr/>
        </p:nvSpPr>
        <p:spPr>
          <a:xfrm>
            <a:off x="603849" y="4480002"/>
            <a:ext cx="3467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solidFill>
                  <a:srgbClr val="00B0F0"/>
                </a:solidFill>
              </a:rPr>
              <a:t>farsnews.ir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3E41866-7AD9-B151-1BEB-B350C023DFE0}"/>
              </a:ext>
            </a:extLst>
          </p:cNvPr>
          <p:cNvCxnSpPr>
            <a:cxnSpLocks/>
          </p:cNvCxnSpPr>
          <p:nvPr/>
        </p:nvCxnSpPr>
        <p:spPr>
          <a:xfrm>
            <a:off x="1120637" y="2880153"/>
            <a:ext cx="224287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6E02C6-DFD0-BFDD-3B9A-24DA099176A7}"/>
              </a:ext>
            </a:extLst>
          </p:cNvPr>
          <p:cNvCxnSpPr>
            <a:cxnSpLocks/>
          </p:cNvCxnSpPr>
          <p:nvPr/>
        </p:nvCxnSpPr>
        <p:spPr>
          <a:xfrm>
            <a:off x="1114985" y="3532886"/>
            <a:ext cx="224287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2FE89F-AB4D-B9FE-A031-75B9F2D930B1}"/>
              </a:ext>
            </a:extLst>
          </p:cNvPr>
          <p:cNvCxnSpPr>
            <a:cxnSpLocks/>
          </p:cNvCxnSpPr>
          <p:nvPr/>
        </p:nvCxnSpPr>
        <p:spPr>
          <a:xfrm>
            <a:off x="1120636" y="4132821"/>
            <a:ext cx="224287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6F2A27-8DF8-7394-F154-6EA4D04FA72E}"/>
              </a:ext>
            </a:extLst>
          </p:cNvPr>
          <p:cNvCxnSpPr>
            <a:cxnSpLocks/>
          </p:cNvCxnSpPr>
          <p:nvPr/>
        </p:nvCxnSpPr>
        <p:spPr>
          <a:xfrm>
            <a:off x="1120635" y="4832600"/>
            <a:ext cx="224287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ED689D5-5DE4-721D-F04E-464C6F477EBC}"/>
              </a:ext>
            </a:extLst>
          </p:cNvPr>
          <p:cNvCxnSpPr>
            <a:cxnSpLocks/>
          </p:cNvCxnSpPr>
          <p:nvPr/>
        </p:nvCxnSpPr>
        <p:spPr>
          <a:xfrm>
            <a:off x="1127862" y="5468079"/>
            <a:ext cx="224287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8241C7C-675E-BC1D-62D5-5300545B306E}"/>
              </a:ext>
            </a:extLst>
          </p:cNvPr>
          <p:cNvSpPr txBox="1"/>
          <p:nvPr/>
        </p:nvSpPr>
        <p:spPr>
          <a:xfrm>
            <a:off x="707361" y="5147923"/>
            <a:ext cx="3467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solidFill>
                  <a:srgbClr val="00B0F0"/>
                </a:solidFill>
              </a:rPr>
              <a:t>chatgpt.com</a:t>
            </a:r>
          </a:p>
        </p:txBody>
      </p:sp>
    </p:spTree>
    <p:extLst>
      <p:ext uri="{BB962C8B-B14F-4D97-AF65-F5344CB8AC3E}">
        <p14:creationId xmlns:p14="http://schemas.microsoft.com/office/powerpoint/2010/main" val="145550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office/2006/documentManagement/types"/>
    <ds:schemaRef ds:uri="71af3243-3dd4-4a8d-8c0d-dd76da1f02a5"/>
    <ds:schemaRef ds:uri="http://www.w3.org/XML/1998/namespace"/>
    <ds:schemaRef ds:uri="http://schemas.microsoft.com/office/2006/metadata/properties"/>
    <ds:schemaRef ds:uri="http://purl.org/dc/terms/"/>
    <ds:schemaRef ds:uri="http://schemas.microsoft.com/sharepoint/v3"/>
    <ds:schemaRef ds:uri="http://purl.org/dc/dcmitype/"/>
    <ds:schemaRef ds:uri="230e9df3-be65-4c73-a93b-d1236ebd677e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1628</TotalTime>
  <Words>618</Words>
  <Application>Microsoft Office PowerPoint</Application>
  <PresentationFormat>Widescreen</PresentationFormat>
  <Paragraphs>119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Nova</vt:lpstr>
      <vt:lpstr>Biome</vt:lpstr>
      <vt:lpstr>Calibri</vt:lpstr>
      <vt:lpstr>Webdings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Fundamentals </dc:title>
  <dc:creator/>
  <cp:lastModifiedBy>Ali Reza Rezaiee</cp:lastModifiedBy>
  <cp:revision>35</cp:revision>
  <dcterms:created xsi:type="dcterms:W3CDTF">2024-03-27T14:46:58Z</dcterms:created>
  <dcterms:modified xsi:type="dcterms:W3CDTF">2026-02-16T16:44:26Z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